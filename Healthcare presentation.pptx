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3" r:id="rId7"/>
    <p:sldId id="262" r:id="rId8"/>
    <p:sldId id="264" r:id="rId9"/>
    <p:sldId id="267" r:id="rId10"/>
    <p:sldId id="268" r:id="rId11"/>
    <p:sldId id="269" r:id="rId12"/>
    <p:sldId id="270" r:id="rId13"/>
    <p:sldId id="271" r:id="rId14"/>
    <p:sldId id="261" r:id="rId15"/>
    <p:sldId id="265" r:id="rId16"/>
    <p:sldId id="266" r:id="rId17"/>
  </p:sldIdLst>
  <p:sldSz cx="18288000" cy="10287000"/>
  <p:notesSz cx="6858000" cy="9144000"/>
  <p:embeddedFontLst>
    <p:embeddedFont>
      <p:font typeface="Fredoka" panose="020B0604020202020204" charset="0"/>
      <p:regular r:id="rId18"/>
    </p:embeddedFont>
    <p:embeddedFont>
      <p:font typeface="Poppins" panose="020B0502040204020203" pitchFamily="2" charset="0"/>
      <p:regular r:id="rId19"/>
    </p:embeddedFont>
    <p:embeddedFont>
      <p:font typeface="Poppins Bold" panose="020B0604020202020204" charset="0"/>
      <p:regular r:id="rId20"/>
    </p:embeddedFont>
    <p:embeddedFont>
      <p:font typeface="Poppins Medium" panose="020B0502040204020203" pitchFamily="2"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555" autoAdjust="0"/>
    <p:restoredTop sz="94622" autoAdjust="0"/>
  </p:normalViewPr>
  <p:slideViewPr>
    <p:cSldViewPr>
      <p:cViewPr varScale="1">
        <p:scale>
          <a:sx n="52" d="100"/>
          <a:sy n="52" d="100"/>
        </p:scale>
        <p:origin x="763"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 Id="rId5" Type="http://schemas.openxmlformats.org/officeDocument/2006/relationships/image" Target="../media/image10.sv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4.sv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6.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5.sv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2.svg"/><Relationship Id="rId7"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2.svg"/><Relationship Id="rId7"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2.svg"/><Relationship Id="rId7"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12.svg"/><Relationship Id="rId7"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29.png"/><Relationship Id="rId4" Type="http://schemas.openxmlformats.org/officeDocument/2006/relationships/image" Target="../media/image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12.svg"/><Relationship Id="rId7"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32.png"/><Relationship Id="rId4" Type="http://schemas.openxmlformats.org/officeDocument/2006/relationships/image" Target="../media/image3.png"/><Relationship Id="rId9" Type="http://schemas.openxmlformats.org/officeDocument/2006/relationships/image" Target="../media/image31.png"/></Relationships>
</file>

<file path=ppt/slides/_rels/slide13.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12.svg"/><Relationship Id="rId7"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svg"/><Relationship Id="rId10" Type="http://schemas.openxmlformats.org/officeDocument/2006/relationships/image" Target="../media/image35.png"/><Relationship Id="rId4" Type="http://schemas.openxmlformats.org/officeDocument/2006/relationships/image" Target="../media/image3.png"/><Relationship Id="rId9"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38.jpe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1290627" y="8231777"/>
            <a:ext cx="6386288" cy="2055223"/>
          </a:xfrm>
          <a:custGeom>
            <a:avLst/>
            <a:gdLst/>
            <a:ahLst/>
            <a:cxnLst/>
            <a:rect l="l" t="t" r="r" b="b"/>
            <a:pathLst>
              <a:path w="6386288" h="2055223">
                <a:moveTo>
                  <a:pt x="6386287" y="0"/>
                </a:moveTo>
                <a:lnTo>
                  <a:pt x="0" y="0"/>
                </a:lnTo>
                <a:lnTo>
                  <a:pt x="0" y="2055223"/>
                </a:lnTo>
                <a:lnTo>
                  <a:pt x="6386287" y="2055223"/>
                </a:lnTo>
                <a:lnTo>
                  <a:pt x="638628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V="1">
            <a:off x="13159321" y="0"/>
            <a:ext cx="6381347" cy="2053633"/>
          </a:xfrm>
          <a:custGeom>
            <a:avLst/>
            <a:gdLst/>
            <a:ahLst/>
            <a:cxnLst/>
            <a:rect l="l" t="t" r="r" b="b"/>
            <a:pathLst>
              <a:path w="6381347" h="2053633">
                <a:moveTo>
                  <a:pt x="0" y="2053633"/>
                </a:moveTo>
                <a:lnTo>
                  <a:pt x="6381347" y="2053633"/>
                </a:lnTo>
                <a:lnTo>
                  <a:pt x="6381347" y="0"/>
                </a:lnTo>
                <a:lnTo>
                  <a:pt x="0" y="0"/>
                </a:lnTo>
                <a:lnTo>
                  <a:pt x="0" y="20536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H="1">
            <a:off x="1028700" y="1026817"/>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TextBox 6"/>
          <p:cNvSpPr txBox="1"/>
          <p:nvPr/>
        </p:nvSpPr>
        <p:spPr>
          <a:xfrm>
            <a:off x="4826697" y="3581634"/>
            <a:ext cx="8634606" cy="3000821"/>
          </a:xfrm>
          <a:prstGeom prst="rect">
            <a:avLst/>
          </a:prstGeom>
        </p:spPr>
        <p:txBody>
          <a:bodyPr lIns="0" tIns="0" rIns="0" bIns="0" rtlCol="0" anchor="t">
            <a:spAutoFit/>
          </a:bodyPr>
          <a:lstStyle/>
          <a:p>
            <a:pPr algn="ctr">
              <a:lnSpc>
                <a:spcPts val="11738"/>
              </a:lnSpc>
            </a:pPr>
            <a:r>
              <a:rPr lang="en-US" sz="11073" dirty="0">
                <a:solidFill>
                  <a:srgbClr val="4D4A7D"/>
                </a:solidFill>
                <a:latin typeface="Fredoka"/>
                <a:ea typeface="Fredoka"/>
                <a:cs typeface="Fredoka"/>
                <a:sym typeface="Fredoka"/>
              </a:rPr>
              <a:t>Healthcare</a:t>
            </a:r>
          </a:p>
          <a:p>
            <a:pPr algn="ctr">
              <a:lnSpc>
                <a:spcPts val="11738"/>
              </a:lnSpc>
            </a:pPr>
            <a:r>
              <a:rPr lang="en-US" sz="11073" dirty="0">
                <a:solidFill>
                  <a:srgbClr val="4D4A7D"/>
                </a:solidFill>
                <a:latin typeface="Fredoka"/>
                <a:ea typeface="Fredoka"/>
                <a:cs typeface="Fredoka"/>
                <a:sym typeface="Fredoka"/>
              </a:rPr>
              <a:t>Analysis </a:t>
            </a:r>
          </a:p>
        </p:txBody>
      </p:sp>
      <p:sp>
        <p:nvSpPr>
          <p:cNvPr id="7" name="Freeform 7"/>
          <p:cNvSpPr/>
          <p:nvPr/>
        </p:nvSpPr>
        <p:spPr>
          <a:xfrm>
            <a:off x="11398200" y="3294878"/>
            <a:ext cx="600904" cy="612032"/>
          </a:xfrm>
          <a:custGeom>
            <a:avLst/>
            <a:gdLst/>
            <a:ahLst/>
            <a:cxnLst/>
            <a:rect l="l" t="t" r="r" b="b"/>
            <a:pathLst>
              <a:path w="600904" h="612032">
                <a:moveTo>
                  <a:pt x="0" y="0"/>
                </a:moveTo>
                <a:lnTo>
                  <a:pt x="600905" y="0"/>
                </a:lnTo>
                <a:lnTo>
                  <a:pt x="600905"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0" y="0"/>
            <a:ext cx="6381347" cy="2053633"/>
          </a:xfrm>
          <a:custGeom>
            <a:avLst/>
            <a:gdLst/>
            <a:ahLst/>
            <a:cxnLst/>
            <a:rect l="l" t="t" r="r" b="b"/>
            <a:pathLst>
              <a:path w="6381347" h="2053633">
                <a:moveTo>
                  <a:pt x="0" y="2053634"/>
                </a:moveTo>
                <a:lnTo>
                  <a:pt x="6381346" y="2053634"/>
                </a:lnTo>
                <a:lnTo>
                  <a:pt x="6381346" y="0"/>
                </a:lnTo>
                <a:lnTo>
                  <a:pt x="0" y="0"/>
                </a:lnTo>
                <a:lnTo>
                  <a:pt x="0" y="205363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699436" y="1634691"/>
            <a:ext cx="8889128" cy="1334128"/>
          </a:xfrm>
          <a:prstGeom prst="rect">
            <a:avLst/>
          </a:prstGeom>
        </p:spPr>
        <p:txBody>
          <a:bodyPr lIns="0" tIns="0" rIns="0" bIns="0" rtlCol="0" anchor="t">
            <a:spAutoFit/>
          </a:bodyPr>
          <a:lstStyle/>
          <a:p>
            <a:pPr algn="ctr">
              <a:lnSpc>
                <a:spcPts val="10258"/>
              </a:lnSpc>
            </a:pPr>
            <a:r>
              <a:rPr lang="en-US" sz="9678" dirty="0">
                <a:solidFill>
                  <a:srgbClr val="4D4A7D"/>
                </a:solidFill>
                <a:latin typeface="Fredoka"/>
                <a:ea typeface="Fredoka"/>
                <a:cs typeface="Fredoka"/>
                <a:sym typeface="Fredoka"/>
              </a:rPr>
              <a:t>The Team</a:t>
            </a:r>
          </a:p>
        </p:txBody>
      </p:sp>
      <p:grpSp>
        <p:nvGrpSpPr>
          <p:cNvPr id="22" name="Group 21"/>
          <p:cNvGrpSpPr/>
          <p:nvPr/>
        </p:nvGrpSpPr>
        <p:grpSpPr>
          <a:xfrm>
            <a:off x="6778308" y="3314700"/>
            <a:ext cx="4731383" cy="1080968"/>
            <a:chOff x="10200575" y="3815527"/>
            <a:chExt cx="4731383" cy="1080968"/>
          </a:xfrm>
        </p:grpSpPr>
        <p:grpSp>
          <p:nvGrpSpPr>
            <p:cNvPr id="13" name="Group 13"/>
            <p:cNvGrpSpPr/>
            <p:nvPr/>
          </p:nvGrpSpPr>
          <p:grpSpPr>
            <a:xfrm>
              <a:off x="10200575" y="3815527"/>
              <a:ext cx="4731383" cy="1080968"/>
              <a:chOff x="0" y="0"/>
              <a:chExt cx="1572617" cy="475072"/>
            </a:xfrm>
          </p:grpSpPr>
          <p:sp>
            <p:nvSpPr>
              <p:cNvPr id="14"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15"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a:solidFill>
                    <a:srgbClr val="4D4A7D"/>
                  </a:solidFill>
                  <a:latin typeface="Poppins Medium"/>
                  <a:ea typeface="Poppins Medium"/>
                  <a:cs typeface="Poppins Medium"/>
                  <a:sym typeface="Poppins Medium"/>
                </a:rPr>
                <a:t>Aditya </a:t>
              </a:r>
              <a:r>
                <a:rPr lang="en-US" sz="3200" b="1" dirty="0" err="1">
                  <a:solidFill>
                    <a:srgbClr val="4D4A7D"/>
                  </a:solidFill>
                  <a:latin typeface="Poppins Medium"/>
                  <a:ea typeface="Poppins Medium"/>
                  <a:cs typeface="Poppins Medium"/>
                  <a:sym typeface="Poppins Medium"/>
                </a:rPr>
                <a:t>Mohite</a:t>
              </a:r>
              <a:r>
                <a:rPr lang="en-US" sz="3200" b="1" dirty="0">
                  <a:solidFill>
                    <a:srgbClr val="4D4A7D"/>
                  </a:solidFill>
                  <a:latin typeface="Poppins Medium"/>
                  <a:ea typeface="Poppins Medium"/>
                  <a:cs typeface="Poppins Medium"/>
                  <a:sym typeface="Poppins Medium"/>
                </a:rPr>
                <a:t> </a:t>
              </a:r>
            </a:p>
          </p:txBody>
        </p:sp>
      </p:grpSp>
      <p:grpSp>
        <p:nvGrpSpPr>
          <p:cNvPr id="23" name="Group 22"/>
          <p:cNvGrpSpPr/>
          <p:nvPr/>
        </p:nvGrpSpPr>
        <p:grpSpPr>
          <a:xfrm>
            <a:off x="6778306" y="7138605"/>
            <a:ext cx="4731383" cy="1080968"/>
            <a:chOff x="10200575" y="3815527"/>
            <a:chExt cx="4731383" cy="1080968"/>
          </a:xfrm>
        </p:grpSpPr>
        <p:grpSp>
          <p:nvGrpSpPr>
            <p:cNvPr id="24" name="Group 13"/>
            <p:cNvGrpSpPr/>
            <p:nvPr/>
          </p:nvGrpSpPr>
          <p:grpSpPr>
            <a:xfrm>
              <a:off x="10200575" y="3815527"/>
              <a:ext cx="4731383" cy="1080968"/>
              <a:chOff x="0" y="0"/>
              <a:chExt cx="1572617" cy="475072"/>
            </a:xfrm>
          </p:grpSpPr>
          <p:sp>
            <p:nvSpPr>
              <p:cNvPr id="26"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27"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25"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a:solidFill>
                    <a:srgbClr val="4D4A7D"/>
                  </a:solidFill>
                  <a:latin typeface="Poppins Medium"/>
                  <a:ea typeface="Poppins Medium"/>
                  <a:cs typeface="Poppins Medium"/>
                  <a:sym typeface="Poppins Medium"/>
                </a:rPr>
                <a:t>Sanjeev Chauhan </a:t>
              </a:r>
            </a:p>
          </p:txBody>
        </p:sp>
      </p:grpSp>
      <p:grpSp>
        <p:nvGrpSpPr>
          <p:cNvPr id="28" name="Group 27"/>
          <p:cNvGrpSpPr/>
          <p:nvPr/>
        </p:nvGrpSpPr>
        <p:grpSpPr>
          <a:xfrm>
            <a:off x="6778306" y="4609512"/>
            <a:ext cx="4731383" cy="1080968"/>
            <a:chOff x="10200575" y="3815527"/>
            <a:chExt cx="4731383" cy="1080968"/>
          </a:xfrm>
        </p:grpSpPr>
        <p:grpSp>
          <p:nvGrpSpPr>
            <p:cNvPr id="29" name="Group 13"/>
            <p:cNvGrpSpPr/>
            <p:nvPr/>
          </p:nvGrpSpPr>
          <p:grpSpPr>
            <a:xfrm>
              <a:off x="10200575" y="3815527"/>
              <a:ext cx="4731383" cy="1080968"/>
              <a:chOff x="0" y="0"/>
              <a:chExt cx="1572617" cy="475072"/>
            </a:xfrm>
          </p:grpSpPr>
          <p:sp>
            <p:nvSpPr>
              <p:cNvPr id="31"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32"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30"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a:solidFill>
                    <a:srgbClr val="4D4A7D"/>
                  </a:solidFill>
                  <a:latin typeface="Poppins Medium"/>
                  <a:ea typeface="Poppins Medium"/>
                  <a:cs typeface="Poppins Medium"/>
                  <a:sym typeface="Poppins Medium"/>
                </a:rPr>
                <a:t>Syed </a:t>
              </a:r>
              <a:r>
                <a:rPr lang="en-US" sz="3200" b="1" dirty="0" err="1">
                  <a:solidFill>
                    <a:srgbClr val="4D4A7D"/>
                  </a:solidFill>
                  <a:latin typeface="Poppins Medium"/>
                  <a:ea typeface="Poppins Medium"/>
                  <a:cs typeface="Poppins Medium"/>
                  <a:sym typeface="Poppins Medium"/>
                </a:rPr>
                <a:t>Arshiya</a:t>
              </a:r>
              <a:r>
                <a:rPr lang="en-US" sz="3200" b="1" dirty="0">
                  <a:solidFill>
                    <a:srgbClr val="4D4A7D"/>
                  </a:solidFill>
                  <a:latin typeface="Poppins Medium"/>
                  <a:ea typeface="Poppins Medium"/>
                  <a:cs typeface="Poppins Medium"/>
                  <a:sym typeface="Poppins Medium"/>
                </a:rPr>
                <a:t>  </a:t>
              </a:r>
            </a:p>
          </p:txBody>
        </p:sp>
      </p:grpSp>
      <p:grpSp>
        <p:nvGrpSpPr>
          <p:cNvPr id="33" name="Group 32"/>
          <p:cNvGrpSpPr/>
          <p:nvPr/>
        </p:nvGrpSpPr>
        <p:grpSpPr>
          <a:xfrm>
            <a:off x="6778306" y="5887117"/>
            <a:ext cx="4731383" cy="1080968"/>
            <a:chOff x="10200575" y="3815527"/>
            <a:chExt cx="4731383" cy="1080968"/>
          </a:xfrm>
        </p:grpSpPr>
        <p:grpSp>
          <p:nvGrpSpPr>
            <p:cNvPr id="34" name="Group 13"/>
            <p:cNvGrpSpPr/>
            <p:nvPr/>
          </p:nvGrpSpPr>
          <p:grpSpPr>
            <a:xfrm>
              <a:off x="10200575" y="3815527"/>
              <a:ext cx="4731383" cy="1080968"/>
              <a:chOff x="0" y="0"/>
              <a:chExt cx="1572617" cy="475072"/>
            </a:xfrm>
          </p:grpSpPr>
          <p:sp>
            <p:nvSpPr>
              <p:cNvPr id="36"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37"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35"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err="1">
                  <a:solidFill>
                    <a:srgbClr val="4D4A7D"/>
                  </a:solidFill>
                  <a:latin typeface="Poppins Medium"/>
                  <a:ea typeface="Poppins Medium"/>
                  <a:cs typeface="Poppins Medium"/>
                  <a:sym typeface="Poppins Medium"/>
                </a:rPr>
                <a:t>Shaik</a:t>
              </a:r>
              <a:r>
                <a:rPr lang="en-US" sz="3200" b="1" dirty="0">
                  <a:solidFill>
                    <a:srgbClr val="4D4A7D"/>
                  </a:solidFill>
                  <a:latin typeface="Poppins Medium"/>
                  <a:ea typeface="Poppins Medium"/>
                  <a:cs typeface="Poppins Medium"/>
                  <a:sym typeface="Poppins Medium"/>
                </a:rPr>
                <a:t> </a:t>
              </a:r>
              <a:r>
                <a:rPr lang="en-US" sz="3200" b="1" dirty="0" err="1">
                  <a:solidFill>
                    <a:srgbClr val="4D4A7D"/>
                  </a:solidFill>
                  <a:latin typeface="Poppins Medium"/>
                  <a:ea typeface="Poppins Medium"/>
                  <a:cs typeface="Poppins Medium"/>
                  <a:sym typeface="Poppins Medium"/>
                </a:rPr>
                <a:t>Gouse</a:t>
              </a:r>
              <a:r>
                <a:rPr lang="en-US" sz="3200" b="1" dirty="0">
                  <a:solidFill>
                    <a:srgbClr val="4D4A7D"/>
                  </a:solidFill>
                  <a:latin typeface="Poppins Medium"/>
                  <a:ea typeface="Poppins Medium"/>
                  <a:cs typeface="Poppins Medium"/>
                  <a:sym typeface="Poppins Medium"/>
                </a:rPr>
                <a:t> </a:t>
              </a:r>
              <a:r>
                <a:rPr lang="en-US" sz="3200" b="1" dirty="0" err="1">
                  <a:solidFill>
                    <a:srgbClr val="4D4A7D"/>
                  </a:solidFill>
                  <a:latin typeface="Poppins Medium"/>
                  <a:ea typeface="Poppins Medium"/>
                  <a:cs typeface="Poppins Medium"/>
                  <a:sym typeface="Poppins Medium"/>
                </a:rPr>
                <a:t>Peera</a:t>
              </a:r>
              <a:r>
                <a:rPr lang="en-US" sz="3200" b="1" dirty="0">
                  <a:solidFill>
                    <a:srgbClr val="4D4A7D"/>
                  </a:solidFill>
                  <a:latin typeface="Poppins Medium"/>
                  <a:ea typeface="Poppins Medium"/>
                  <a:cs typeface="Poppins Medium"/>
                  <a:sym typeface="Poppins Medium"/>
                </a:rPr>
                <a:t> </a:t>
              </a:r>
            </a:p>
          </p:txBody>
        </p:sp>
      </p:grpSp>
      <p:grpSp>
        <p:nvGrpSpPr>
          <p:cNvPr id="38" name="Group 37"/>
          <p:cNvGrpSpPr/>
          <p:nvPr/>
        </p:nvGrpSpPr>
        <p:grpSpPr>
          <a:xfrm>
            <a:off x="6778306" y="8489685"/>
            <a:ext cx="4731383" cy="1080968"/>
            <a:chOff x="10200575" y="3815527"/>
            <a:chExt cx="4731383" cy="1080968"/>
          </a:xfrm>
        </p:grpSpPr>
        <p:grpSp>
          <p:nvGrpSpPr>
            <p:cNvPr id="39" name="Group 13"/>
            <p:cNvGrpSpPr/>
            <p:nvPr/>
          </p:nvGrpSpPr>
          <p:grpSpPr>
            <a:xfrm>
              <a:off x="10200575" y="3815527"/>
              <a:ext cx="4731383" cy="1080968"/>
              <a:chOff x="0" y="0"/>
              <a:chExt cx="1572617" cy="475072"/>
            </a:xfrm>
          </p:grpSpPr>
          <p:sp>
            <p:nvSpPr>
              <p:cNvPr id="41" name="Freeform 14"/>
              <p:cNvSpPr/>
              <p:nvPr/>
            </p:nvSpPr>
            <p:spPr>
              <a:xfrm>
                <a:off x="0" y="0"/>
                <a:ext cx="1572617" cy="475072"/>
              </a:xfrm>
              <a:custGeom>
                <a:avLst/>
                <a:gdLst/>
                <a:ahLst/>
                <a:cxnLst/>
                <a:rect l="l" t="t" r="r" b="b"/>
                <a:pathLst>
                  <a:path w="1572617" h="475072">
                    <a:moveTo>
                      <a:pt x="25932" y="0"/>
                    </a:moveTo>
                    <a:lnTo>
                      <a:pt x="1546686" y="0"/>
                    </a:lnTo>
                    <a:cubicBezTo>
                      <a:pt x="1553563" y="0"/>
                      <a:pt x="1560159" y="2732"/>
                      <a:pt x="1565022" y="7595"/>
                    </a:cubicBezTo>
                    <a:cubicBezTo>
                      <a:pt x="1569885" y="12458"/>
                      <a:pt x="1572617" y="19054"/>
                      <a:pt x="1572617" y="25932"/>
                    </a:cubicBezTo>
                    <a:lnTo>
                      <a:pt x="1572617" y="449140"/>
                    </a:lnTo>
                    <a:cubicBezTo>
                      <a:pt x="1572617" y="463462"/>
                      <a:pt x="1561007" y="475072"/>
                      <a:pt x="1546686" y="475072"/>
                    </a:cubicBezTo>
                    <a:lnTo>
                      <a:pt x="25932" y="475072"/>
                    </a:lnTo>
                    <a:cubicBezTo>
                      <a:pt x="11610" y="475072"/>
                      <a:pt x="0" y="463462"/>
                      <a:pt x="0" y="449140"/>
                    </a:cubicBezTo>
                    <a:lnTo>
                      <a:pt x="0" y="25932"/>
                    </a:lnTo>
                    <a:cubicBezTo>
                      <a:pt x="0" y="11610"/>
                      <a:pt x="11610" y="0"/>
                      <a:pt x="25932" y="0"/>
                    </a:cubicBezTo>
                    <a:close/>
                  </a:path>
                </a:pathLst>
              </a:custGeom>
              <a:ln w="47625" cap="sq">
                <a:solidFill>
                  <a:srgbClr val="4D4A7D"/>
                </a:solidFill>
                <a:prstDash val="solid"/>
                <a:miter/>
              </a:ln>
            </p:spPr>
          </p:sp>
          <p:sp>
            <p:nvSpPr>
              <p:cNvPr id="42" name="TextBox 15"/>
              <p:cNvSpPr txBox="1"/>
              <p:nvPr/>
            </p:nvSpPr>
            <p:spPr>
              <a:xfrm>
                <a:off x="0" y="-38100"/>
                <a:ext cx="1572617" cy="513172"/>
              </a:xfrm>
              <a:prstGeom prst="rect">
                <a:avLst/>
              </a:prstGeom>
            </p:spPr>
            <p:txBody>
              <a:bodyPr lIns="50800" tIns="50800" rIns="50800" bIns="50800" rtlCol="0" anchor="ctr"/>
              <a:lstStyle/>
              <a:p>
                <a:pPr algn="ctr">
                  <a:lnSpc>
                    <a:spcPts val="2659"/>
                  </a:lnSpc>
                  <a:spcBef>
                    <a:spcPct val="0"/>
                  </a:spcBef>
                </a:pPr>
                <a:endParaRPr/>
              </a:p>
            </p:txBody>
          </p:sp>
        </p:grpSp>
        <p:sp>
          <p:nvSpPr>
            <p:cNvPr id="40" name="TextBox 16"/>
            <p:cNvSpPr txBox="1"/>
            <p:nvPr/>
          </p:nvSpPr>
          <p:spPr>
            <a:xfrm>
              <a:off x="10358918" y="4085639"/>
              <a:ext cx="4414698" cy="566420"/>
            </a:xfrm>
            <a:prstGeom prst="rect">
              <a:avLst/>
            </a:prstGeom>
          </p:spPr>
          <p:txBody>
            <a:bodyPr lIns="0" tIns="0" rIns="0" bIns="0" rtlCol="0" anchor="t">
              <a:spAutoFit/>
            </a:bodyPr>
            <a:lstStyle/>
            <a:p>
              <a:pPr algn="ctr">
                <a:lnSpc>
                  <a:spcPts val="4480"/>
                </a:lnSpc>
              </a:pPr>
              <a:r>
                <a:rPr lang="en-US" sz="3200" b="1" dirty="0" err="1">
                  <a:solidFill>
                    <a:srgbClr val="4D4A7D"/>
                  </a:solidFill>
                  <a:latin typeface="Poppins Medium"/>
                  <a:ea typeface="Poppins Medium"/>
                  <a:cs typeface="Poppins Medium"/>
                  <a:sym typeface="Poppins Medium"/>
                </a:rPr>
                <a:t>Rajat</a:t>
              </a:r>
              <a:r>
                <a:rPr lang="en-US" sz="3200" b="1" dirty="0">
                  <a:solidFill>
                    <a:srgbClr val="4D4A7D"/>
                  </a:solidFill>
                  <a:latin typeface="Poppins Medium"/>
                  <a:ea typeface="Poppins Medium"/>
                  <a:cs typeface="Poppins Medium"/>
                  <a:sym typeface="Poppins Medium"/>
                </a:rPr>
                <a:t> Singh </a:t>
              </a: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D4A7D"/>
        </a:solidFill>
        <a:effectLst/>
      </p:bgPr>
    </p:bg>
    <p:spTree>
      <p:nvGrpSpPr>
        <p:cNvPr id="1" name=""/>
        <p:cNvGrpSpPr/>
        <p:nvPr/>
      </p:nvGrpSpPr>
      <p:grpSpPr>
        <a:xfrm>
          <a:off x="0" y="0"/>
          <a:ext cx="0" cy="0"/>
          <a:chOff x="0" y="0"/>
          <a:chExt cx="0" cy="0"/>
        </a:xfrm>
      </p:grpSpPr>
      <p:sp>
        <p:nvSpPr>
          <p:cNvPr id="2" name="TextBox 2"/>
          <p:cNvSpPr txBox="1"/>
          <p:nvPr/>
        </p:nvSpPr>
        <p:spPr>
          <a:xfrm>
            <a:off x="4699436" y="3170343"/>
            <a:ext cx="8889128" cy="1334128"/>
          </a:xfrm>
          <a:prstGeom prst="rect">
            <a:avLst/>
          </a:prstGeom>
        </p:spPr>
        <p:txBody>
          <a:bodyPr lIns="0" tIns="0" rIns="0" bIns="0" rtlCol="0" anchor="t">
            <a:spAutoFit/>
          </a:bodyPr>
          <a:lstStyle/>
          <a:p>
            <a:pPr algn="ctr">
              <a:lnSpc>
                <a:spcPts val="10258"/>
              </a:lnSpc>
            </a:pPr>
            <a:r>
              <a:rPr lang="en-US" sz="9678">
                <a:solidFill>
                  <a:srgbClr val="F2F1FF"/>
                </a:solidFill>
                <a:latin typeface="Fredoka"/>
                <a:ea typeface="Fredoka"/>
                <a:cs typeface="Fredoka"/>
                <a:sym typeface="Fredoka"/>
              </a:rPr>
              <a:t>Introduction </a:t>
            </a:r>
          </a:p>
        </p:txBody>
      </p:sp>
      <p:sp>
        <p:nvSpPr>
          <p:cNvPr id="3" name="TextBox 3"/>
          <p:cNvSpPr txBox="1"/>
          <p:nvPr/>
        </p:nvSpPr>
        <p:spPr>
          <a:xfrm>
            <a:off x="4191000" y="4997662"/>
            <a:ext cx="9906000" cy="4001095"/>
          </a:xfrm>
          <a:prstGeom prst="rect">
            <a:avLst/>
          </a:prstGeom>
        </p:spPr>
        <p:txBody>
          <a:bodyPr wrap="square" lIns="0" tIns="0" rIns="0" bIns="0" rtlCol="0" anchor="t">
            <a:spAutoFit/>
          </a:bodyPr>
          <a:lstStyle/>
          <a:p>
            <a:pPr algn="ctr">
              <a:lnSpc>
                <a:spcPts val="3919"/>
              </a:lnSpc>
            </a:pPr>
            <a:r>
              <a:rPr lang="en-US" sz="2799" dirty="0">
                <a:solidFill>
                  <a:srgbClr val="F2F1FF"/>
                </a:solidFill>
                <a:latin typeface="Poppins"/>
                <a:ea typeface="Poppins"/>
                <a:cs typeface="Poppins"/>
                <a:sym typeface="Poppins"/>
              </a:rPr>
              <a:t>Healthcare analysis involves collecting and examining healthcare data to improve patient care and hospital performance. It helps track patient trends, doctor workload, treatment outcomes, and revenue. Using tools like Excel, Tableau, Power BI and MySQL, healthcare analysis supports data-driven decisions and improves operational efficiency in healthcare organizations.  </a:t>
            </a:r>
          </a:p>
        </p:txBody>
      </p:sp>
      <p:sp>
        <p:nvSpPr>
          <p:cNvPr id="4" name="Freeform 4"/>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flipV="1">
            <a:off x="13123595" y="1883"/>
            <a:ext cx="5164405" cy="1661999"/>
          </a:xfrm>
          <a:custGeom>
            <a:avLst/>
            <a:gdLst/>
            <a:ahLst/>
            <a:cxnLst/>
            <a:rect l="l" t="t" r="r" b="b"/>
            <a:pathLst>
              <a:path w="5164405" h="1661999">
                <a:moveTo>
                  <a:pt x="5164405" y="1662000"/>
                </a:moveTo>
                <a:lnTo>
                  <a:pt x="0" y="1662000"/>
                </a:lnTo>
                <a:lnTo>
                  <a:pt x="0" y="0"/>
                </a:lnTo>
                <a:lnTo>
                  <a:pt x="5164405" y="0"/>
                </a:lnTo>
                <a:lnTo>
                  <a:pt x="5164405" y="166200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V="1">
            <a:off x="0" y="1883"/>
            <a:ext cx="5164405" cy="1661999"/>
          </a:xfrm>
          <a:custGeom>
            <a:avLst/>
            <a:gdLst/>
            <a:ahLst/>
            <a:cxnLst/>
            <a:rect l="l" t="t" r="r" b="b"/>
            <a:pathLst>
              <a:path w="5164405" h="1661999">
                <a:moveTo>
                  <a:pt x="0" y="1662000"/>
                </a:moveTo>
                <a:lnTo>
                  <a:pt x="5164405" y="1662000"/>
                </a:lnTo>
                <a:lnTo>
                  <a:pt x="5164405" y="0"/>
                </a:lnTo>
                <a:lnTo>
                  <a:pt x="0" y="0"/>
                </a:lnTo>
                <a:lnTo>
                  <a:pt x="0" y="166200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V="1">
            <a:off x="14775215" y="0"/>
            <a:ext cx="3512785" cy="1475370"/>
          </a:xfrm>
          <a:custGeom>
            <a:avLst/>
            <a:gdLst/>
            <a:ahLst/>
            <a:cxnLst/>
            <a:rect l="l" t="t" r="r" b="b"/>
            <a:pathLst>
              <a:path w="3512785" h="1475370">
                <a:moveTo>
                  <a:pt x="0" y="1475370"/>
                </a:moveTo>
                <a:lnTo>
                  <a:pt x="3512785" y="1475370"/>
                </a:lnTo>
                <a:lnTo>
                  <a:pt x="3512785" y="0"/>
                </a:lnTo>
                <a:lnTo>
                  <a:pt x="0" y="0"/>
                </a:lnTo>
                <a:lnTo>
                  <a:pt x="0" y="147537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6296128" y="1790700"/>
            <a:ext cx="10184551" cy="6553199"/>
            <a:chOff x="0" y="0"/>
            <a:chExt cx="2682351" cy="1409847"/>
          </a:xfrm>
        </p:grpSpPr>
        <p:sp>
          <p:nvSpPr>
            <p:cNvPr id="6" name="Freeform 6"/>
            <p:cNvSpPr/>
            <p:nvPr/>
          </p:nvSpPr>
          <p:spPr>
            <a:xfrm>
              <a:off x="0" y="0"/>
              <a:ext cx="2682351" cy="1409847"/>
            </a:xfrm>
            <a:custGeom>
              <a:avLst/>
              <a:gdLst/>
              <a:ahLst/>
              <a:cxnLst/>
              <a:rect l="l" t="t" r="r" b="b"/>
              <a:pathLst>
                <a:path w="2682351" h="1409847">
                  <a:moveTo>
                    <a:pt x="15203" y="0"/>
                  </a:moveTo>
                  <a:lnTo>
                    <a:pt x="2667147" y="0"/>
                  </a:lnTo>
                  <a:cubicBezTo>
                    <a:pt x="2671180" y="0"/>
                    <a:pt x="2675047" y="1602"/>
                    <a:pt x="2677898" y="4453"/>
                  </a:cubicBezTo>
                  <a:cubicBezTo>
                    <a:pt x="2680749" y="7304"/>
                    <a:pt x="2682351" y="11171"/>
                    <a:pt x="2682351" y="15203"/>
                  </a:cubicBezTo>
                  <a:lnTo>
                    <a:pt x="2682351" y="1394644"/>
                  </a:lnTo>
                  <a:cubicBezTo>
                    <a:pt x="2682351" y="1398676"/>
                    <a:pt x="2680749" y="1402543"/>
                    <a:pt x="2677898" y="1405394"/>
                  </a:cubicBezTo>
                  <a:cubicBezTo>
                    <a:pt x="2675047" y="1408245"/>
                    <a:pt x="2671180" y="1409847"/>
                    <a:pt x="2667147" y="1409847"/>
                  </a:cubicBezTo>
                  <a:lnTo>
                    <a:pt x="15203" y="1409847"/>
                  </a:lnTo>
                  <a:cubicBezTo>
                    <a:pt x="11171" y="1409847"/>
                    <a:pt x="7304" y="1408245"/>
                    <a:pt x="4453" y="1405394"/>
                  </a:cubicBezTo>
                  <a:cubicBezTo>
                    <a:pt x="1602" y="1402543"/>
                    <a:pt x="0" y="1398676"/>
                    <a:pt x="0" y="1394644"/>
                  </a:cubicBezTo>
                  <a:lnTo>
                    <a:pt x="0" y="15203"/>
                  </a:lnTo>
                  <a:cubicBezTo>
                    <a:pt x="0" y="11171"/>
                    <a:pt x="1602" y="7304"/>
                    <a:pt x="4453" y="4453"/>
                  </a:cubicBezTo>
                  <a:cubicBezTo>
                    <a:pt x="7304" y="1602"/>
                    <a:pt x="11171" y="0"/>
                    <a:pt x="15203" y="0"/>
                  </a:cubicBezTo>
                  <a:close/>
                </a:path>
              </a:pathLst>
            </a:custGeom>
            <a:solidFill>
              <a:srgbClr val="4D4A7D"/>
            </a:solidFill>
          </p:spPr>
        </p:sp>
        <p:sp>
          <p:nvSpPr>
            <p:cNvPr id="7" name="TextBox 7"/>
            <p:cNvSpPr txBox="1"/>
            <p:nvPr/>
          </p:nvSpPr>
          <p:spPr>
            <a:xfrm>
              <a:off x="0" y="-38100"/>
              <a:ext cx="2682351" cy="1447947"/>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7161967" y="2426660"/>
            <a:ext cx="8452871" cy="1334128"/>
          </a:xfrm>
          <a:prstGeom prst="rect">
            <a:avLst/>
          </a:prstGeom>
        </p:spPr>
        <p:txBody>
          <a:bodyPr lIns="0" tIns="0" rIns="0" bIns="0" rtlCol="0" anchor="t">
            <a:spAutoFit/>
          </a:bodyPr>
          <a:lstStyle/>
          <a:p>
            <a:pPr algn="ctr">
              <a:lnSpc>
                <a:spcPts val="10258"/>
              </a:lnSpc>
            </a:pPr>
            <a:r>
              <a:rPr lang="en-US" sz="9678" dirty="0">
                <a:solidFill>
                  <a:srgbClr val="F2F1FF"/>
                </a:solidFill>
                <a:latin typeface="Fredoka"/>
                <a:ea typeface="Fredoka"/>
                <a:cs typeface="Fredoka"/>
                <a:sym typeface="Fredoka"/>
              </a:rPr>
              <a:t>Objective</a:t>
            </a:r>
          </a:p>
        </p:txBody>
      </p:sp>
      <p:sp>
        <p:nvSpPr>
          <p:cNvPr id="9" name="TextBox 9"/>
          <p:cNvSpPr txBox="1"/>
          <p:nvPr/>
        </p:nvSpPr>
        <p:spPr>
          <a:xfrm>
            <a:off x="7114586" y="3937883"/>
            <a:ext cx="8458285" cy="4001095"/>
          </a:xfrm>
          <a:prstGeom prst="rect">
            <a:avLst/>
          </a:prstGeom>
        </p:spPr>
        <p:txBody>
          <a:bodyPr lIns="0" tIns="0" rIns="0" bIns="0" rtlCol="0" anchor="t">
            <a:spAutoFit/>
          </a:bodyPr>
          <a:lstStyle/>
          <a:p>
            <a:pPr algn="l">
              <a:lnSpc>
                <a:spcPts val="3919"/>
              </a:lnSpc>
            </a:pPr>
            <a:r>
              <a:rPr lang="en-US" sz="2799" dirty="0">
                <a:solidFill>
                  <a:srgbClr val="F2F1FF"/>
                </a:solidFill>
                <a:latin typeface="Poppins"/>
                <a:ea typeface="Poppins"/>
                <a:cs typeface="Poppins"/>
                <a:sym typeface="Poppins"/>
              </a:rPr>
              <a:t>The objective of the Healthcare Analysis project is to analyze hospital data to improve patient care, operational efficiency, and financial performance. It aims to monitor patient volume, doctor workload, diagnoses, treatment outcomes, revenue trends, and follow-up rates to support data-driven decision-making and enhance overall healthcare service quality</a:t>
            </a:r>
          </a:p>
        </p:txBody>
      </p:sp>
      <p:sp>
        <p:nvSpPr>
          <p:cNvPr id="10" name="Freeform 10"/>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Rectangle 1"/>
          <p:cNvSpPr>
            <a:spLocks noChangeArrowheads="1"/>
          </p:cNvSpPr>
          <p:nvPr/>
        </p:nvSpPr>
        <p:spPr bwMode="auto">
          <a:xfrm>
            <a:off x="0" y="0"/>
            <a:ext cx="18288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1029" name="Picture 5" descr="Medical healthcare illustration | Premium Vecto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 y="2857500"/>
            <a:ext cx="5978178" cy="52262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8"/>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9" name="Freeform 9"/>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0" y="8008852"/>
            <a:ext cx="5695371" cy="2278148"/>
          </a:xfrm>
          <a:custGeom>
            <a:avLst/>
            <a:gdLst/>
            <a:ahLst/>
            <a:cxnLst/>
            <a:rect l="l" t="t" r="r" b="b"/>
            <a:pathLst>
              <a:path w="5695371" h="2278148">
                <a:moveTo>
                  <a:pt x="0" y="0"/>
                </a:moveTo>
                <a:lnTo>
                  <a:pt x="5695371" y="0"/>
                </a:lnTo>
                <a:lnTo>
                  <a:pt x="5695371" y="2278148"/>
                </a:lnTo>
                <a:lnTo>
                  <a:pt x="0" y="22781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Freeform 11"/>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2" name="TextBox 12"/>
          <p:cNvSpPr txBox="1"/>
          <p:nvPr/>
        </p:nvSpPr>
        <p:spPr>
          <a:xfrm>
            <a:off x="0" y="815383"/>
            <a:ext cx="18288000" cy="1334128"/>
          </a:xfrm>
          <a:prstGeom prst="rect">
            <a:avLst/>
          </a:prstGeom>
        </p:spPr>
        <p:txBody>
          <a:bodyPr wrap="square" lIns="0" tIns="0" rIns="0" bIns="0" rtlCol="0" anchor="t">
            <a:spAutoFit/>
          </a:bodyPr>
          <a:lstStyle/>
          <a:p>
            <a:pPr algn="ctr">
              <a:lnSpc>
                <a:spcPts val="10258"/>
              </a:lnSpc>
            </a:pPr>
            <a:r>
              <a:rPr lang="en-US" sz="9678" dirty="0">
                <a:solidFill>
                  <a:srgbClr val="4D4A7D"/>
                </a:solidFill>
                <a:latin typeface="Fredoka"/>
                <a:ea typeface="Fredoka"/>
                <a:cs typeface="Fredoka"/>
                <a:sym typeface="Fredoka"/>
              </a:rPr>
              <a:t>KPIs</a:t>
            </a:r>
          </a:p>
        </p:txBody>
      </p:sp>
      <p:grpSp>
        <p:nvGrpSpPr>
          <p:cNvPr id="69" name="Group 68"/>
          <p:cNvGrpSpPr/>
          <p:nvPr/>
        </p:nvGrpSpPr>
        <p:grpSpPr>
          <a:xfrm>
            <a:off x="2362200" y="2009801"/>
            <a:ext cx="17394764" cy="5843577"/>
            <a:chOff x="446618" y="2595029"/>
            <a:chExt cx="17394764" cy="5153727"/>
          </a:xfrm>
        </p:grpSpPr>
        <p:grpSp>
          <p:nvGrpSpPr>
            <p:cNvPr id="15" name="Group 14"/>
            <p:cNvGrpSpPr/>
            <p:nvPr/>
          </p:nvGrpSpPr>
          <p:grpSpPr>
            <a:xfrm>
              <a:off x="446618" y="2705100"/>
              <a:ext cx="3172620" cy="4999478"/>
              <a:chOff x="4436448" y="3739116"/>
              <a:chExt cx="4574432" cy="4688719"/>
            </a:xfrm>
          </p:grpSpPr>
          <p:grpSp>
            <p:nvGrpSpPr>
              <p:cNvPr id="2" name="Group 2"/>
              <p:cNvGrpSpPr/>
              <p:nvPr/>
            </p:nvGrpSpPr>
            <p:grpSpPr>
              <a:xfrm>
                <a:off x="4436448" y="3739116"/>
                <a:ext cx="4574432" cy="4688719"/>
                <a:chOff x="0" y="0"/>
                <a:chExt cx="1204789" cy="1234889"/>
              </a:xfrm>
            </p:grpSpPr>
            <p:sp>
              <p:nvSpPr>
                <p:cNvPr id="3" name="Freeform 3"/>
                <p:cNvSpPr/>
                <p:nvPr/>
              </p:nvSpPr>
              <p:spPr>
                <a:xfrm>
                  <a:off x="0" y="0"/>
                  <a:ext cx="1204789" cy="1234889"/>
                </a:xfrm>
                <a:custGeom>
                  <a:avLst/>
                  <a:gdLst/>
                  <a:ahLst/>
                  <a:cxnLst/>
                  <a:rect l="l" t="t" r="r" b="b"/>
                  <a:pathLst>
                    <a:path w="1204789" h="12348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ln w="47625" cap="sq">
                  <a:solidFill>
                    <a:srgbClr val="4D4A7D"/>
                  </a:solidFill>
                  <a:prstDash val="solid"/>
                  <a:miter/>
                </a:ln>
              </p:spPr>
            </p:sp>
            <p:sp>
              <p:nvSpPr>
                <p:cNvPr id="4" name="TextBox 4"/>
                <p:cNvSpPr txBox="1"/>
                <p:nvPr/>
              </p:nvSpPr>
              <p:spPr>
                <a:xfrm>
                  <a:off x="0" y="-38100"/>
                  <a:ext cx="1204789" cy="1272989"/>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4436449" y="5467894"/>
                <a:ext cx="4463194" cy="2345247"/>
              </a:xfrm>
              <a:prstGeom prst="rect">
                <a:avLst/>
              </a:prstGeom>
            </p:spPr>
            <p:txBody>
              <a:bodyPr wrap="square" lIns="0" tIns="0" rIns="0" bIns="0" rtlCol="0" anchor="t">
                <a:spAutoFit/>
              </a:bodyPr>
              <a:lstStyle/>
              <a:p>
                <a:pPr algn="ctr">
                  <a:lnSpc>
                    <a:spcPts val="3919"/>
                  </a:lnSpc>
                </a:pPr>
                <a:r>
                  <a:rPr lang="en-US" sz="2799" b="1" dirty="0">
                    <a:solidFill>
                      <a:srgbClr val="4D4A7D"/>
                    </a:solidFill>
                    <a:latin typeface="Poppins"/>
                    <a:ea typeface="Poppins"/>
                    <a:cs typeface="Poppins"/>
                    <a:sym typeface="Poppins"/>
                  </a:rPr>
                  <a:t>Total Visits</a:t>
                </a:r>
              </a:p>
              <a:p>
                <a:pPr algn="ctr">
                  <a:lnSpc>
                    <a:spcPts val="3919"/>
                  </a:lnSpc>
                </a:pPr>
                <a:r>
                  <a:rPr lang="en-US" sz="4000" b="1" dirty="0">
                    <a:solidFill>
                      <a:srgbClr val="4D4A7D"/>
                    </a:solidFill>
                    <a:latin typeface="Poppins"/>
                    <a:ea typeface="Poppins"/>
                    <a:cs typeface="Poppins"/>
                    <a:sym typeface="Poppins"/>
                  </a:rPr>
                  <a:t>10K</a:t>
                </a:r>
              </a:p>
              <a:p>
                <a:pPr algn="ctr">
                  <a:lnSpc>
                    <a:spcPts val="3919"/>
                  </a:lnSpc>
                </a:pPr>
                <a:r>
                  <a:rPr lang="en-US" sz="2400" dirty="0">
                    <a:solidFill>
                      <a:srgbClr val="4D4A7D"/>
                    </a:solidFill>
                    <a:latin typeface="Poppins"/>
                    <a:ea typeface="Poppins"/>
                    <a:cs typeface="Poppins"/>
                    <a:sym typeface="Poppins"/>
                  </a:rPr>
                  <a:t>Consistent patient engagement and service utilization</a:t>
                </a:r>
              </a:p>
            </p:txBody>
          </p:sp>
        </p:grpSp>
        <p:grpSp>
          <p:nvGrpSpPr>
            <p:cNvPr id="27" name="Group 2"/>
            <p:cNvGrpSpPr/>
            <p:nvPr/>
          </p:nvGrpSpPr>
          <p:grpSpPr>
            <a:xfrm>
              <a:off x="4002154" y="2711936"/>
              <a:ext cx="3172620" cy="4999478"/>
              <a:chOff x="0" y="0"/>
              <a:chExt cx="1204789" cy="1234889"/>
            </a:xfrm>
          </p:grpSpPr>
          <p:sp>
            <p:nvSpPr>
              <p:cNvPr id="29" name="Freeform 3"/>
              <p:cNvSpPr/>
              <p:nvPr/>
            </p:nvSpPr>
            <p:spPr>
              <a:xfrm>
                <a:off x="0" y="0"/>
                <a:ext cx="1204789" cy="1234889"/>
              </a:xfrm>
              <a:custGeom>
                <a:avLst/>
                <a:gdLst/>
                <a:ahLst/>
                <a:cxnLst/>
                <a:rect l="l" t="t" r="r" b="b"/>
                <a:pathLst>
                  <a:path w="1204789" h="12348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ln w="47625" cap="sq">
                <a:solidFill>
                  <a:srgbClr val="4D4A7D"/>
                </a:solidFill>
                <a:prstDash val="solid"/>
                <a:miter/>
              </a:ln>
            </p:spPr>
          </p:sp>
          <p:sp>
            <p:nvSpPr>
              <p:cNvPr id="30" name="TextBox 4"/>
              <p:cNvSpPr txBox="1"/>
              <p:nvPr/>
            </p:nvSpPr>
            <p:spPr>
              <a:xfrm>
                <a:off x="0" y="-38100"/>
                <a:ext cx="1204789" cy="1272989"/>
              </a:xfrm>
              <a:prstGeom prst="rect">
                <a:avLst/>
              </a:prstGeom>
            </p:spPr>
            <p:txBody>
              <a:bodyPr lIns="50800" tIns="50800" rIns="50800" bIns="50800" rtlCol="0" anchor="ctr"/>
              <a:lstStyle/>
              <a:p>
                <a:pPr algn="ctr">
                  <a:lnSpc>
                    <a:spcPts val="2659"/>
                  </a:lnSpc>
                  <a:spcBef>
                    <a:spcPct val="0"/>
                  </a:spcBef>
                </a:pPr>
                <a:endParaRPr/>
              </a:p>
            </p:txBody>
          </p:sp>
        </p:grpSp>
        <p:grpSp>
          <p:nvGrpSpPr>
            <p:cNvPr id="32" name="Group 2"/>
            <p:cNvGrpSpPr/>
            <p:nvPr/>
          </p:nvGrpSpPr>
          <p:grpSpPr>
            <a:xfrm>
              <a:off x="7557690" y="2718772"/>
              <a:ext cx="3172620" cy="4999478"/>
              <a:chOff x="0" y="0"/>
              <a:chExt cx="1204789" cy="1234889"/>
            </a:xfrm>
          </p:grpSpPr>
          <p:sp>
            <p:nvSpPr>
              <p:cNvPr id="34" name="Freeform 3"/>
              <p:cNvSpPr/>
              <p:nvPr/>
            </p:nvSpPr>
            <p:spPr>
              <a:xfrm>
                <a:off x="0" y="0"/>
                <a:ext cx="1204789" cy="1234889"/>
              </a:xfrm>
              <a:custGeom>
                <a:avLst/>
                <a:gdLst/>
                <a:ahLst/>
                <a:cxnLst/>
                <a:rect l="l" t="t" r="r" b="b"/>
                <a:pathLst>
                  <a:path w="1204789" h="12348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ln w="47625" cap="sq">
                <a:solidFill>
                  <a:srgbClr val="4D4A7D"/>
                </a:solidFill>
                <a:prstDash val="solid"/>
                <a:miter/>
              </a:ln>
            </p:spPr>
          </p:sp>
          <p:sp>
            <p:nvSpPr>
              <p:cNvPr id="35" name="TextBox 4"/>
              <p:cNvSpPr txBox="1"/>
              <p:nvPr/>
            </p:nvSpPr>
            <p:spPr>
              <a:xfrm>
                <a:off x="0" y="-38100"/>
                <a:ext cx="1204789" cy="1272989"/>
              </a:xfrm>
              <a:prstGeom prst="rect">
                <a:avLst/>
              </a:prstGeom>
            </p:spPr>
            <p:txBody>
              <a:bodyPr lIns="50800" tIns="50800" rIns="50800" bIns="50800" rtlCol="0" anchor="ctr"/>
              <a:lstStyle/>
              <a:p>
                <a:pPr algn="ctr">
                  <a:lnSpc>
                    <a:spcPts val="2659"/>
                  </a:lnSpc>
                  <a:spcBef>
                    <a:spcPct val="0"/>
                  </a:spcBef>
                </a:pPr>
                <a:endParaRPr/>
              </a:p>
            </p:txBody>
          </p:sp>
        </p:grpSp>
        <p:grpSp>
          <p:nvGrpSpPr>
            <p:cNvPr id="37" name="Group 2"/>
            <p:cNvGrpSpPr/>
            <p:nvPr/>
          </p:nvGrpSpPr>
          <p:grpSpPr>
            <a:xfrm>
              <a:off x="11113226" y="2742442"/>
              <a:ext cx="3172620" cy="4999478"/>
              <a:chOff x="0" y="0"/>
              <a:chExt cx="1204789" cy="1234889"/>
            </a:xfrm>
          </p:grpSpPr>
          <p:sp>
            <p:nvSpPr>
              <p:cNvPr id="39" name="Freeform 3"/>
              <p:cNvSpPr/>
              <p:nvPr/>
            </p:nvSpPr>
            <p:spPr>
              <a:xfrm>
                <a:off x="0" y="0"/>
                <a:ext cx="1204789" cy="1234889"/>
              </a:xfrm>
              <a:custGeom>
                <a:avLst/>
                <a:gdLst/>
                <a:ahLst/>
                <a:cxnLst/>
                <a:rect l="l" t="t" r="r" b="b"/>
                <a:pathLst>
                  <a:path w="1204789" h="1234889">
                    <a:moveTo>
                      <a:pt x="33849" y="0"/>
                    </a:moveTo>
                    <a:lnTo>
                      <a:pt x="1170940" y="0"/>
                    </a:lnTo>
                    <a:cubicBezTo>
                      <a:pt x="1189634" y="0"/>
                      <a:pt x="1204789" y="15155"/>
                      <a:pt x="1204789" y="33849"/>
                    </a:cubicBezTo>
                    <a:lnTo>
                      <a:pt x="1204789" y="1201040"/>
                    </a:lnTo>
                    <a:cubicBezTo>
                      <a:pt x="1204789" y="1210018"/>
                      <a:pt x="1201223" y="1218627"/>
                      <a:pt x="1194875" y="1224975"/>
                    </a:cubicBezTo>
                    <a:cubicBezTo>
                      <a:pt x="1188527" y="1231323"/>
                      <a:pt x="1179917" y="1234889"/>
                      <a:pt x="1170940" y="1234889"/>
                    </a:cubicBezTo>
                    <a:lnTo>
                      <a:pt x="33849" y="1234889"/>
                    </a:lnTo>
                    <a:cubicBezTo>
                      <a:pt x="24871" y="1234889"/>
                      <a:pt x="16262" y="1231323"/>
                      <a:pt x="9914" y="1224975"/>
                    </a:cubicBezTo>
                    <a:cubicBezTo>
                      <a:pt x="3566" y="1218627"/>
                      <a:pt x="0" y="1210018"/>
                      <a:pt x="0" y="1201040"/>
                    </a:cubicBezTo>
                    <a:lnTo>
                      <a:pt x="0" y="33849"/>
                    </a:lnTo>
                    <a:cubicBezTo>
                      <a:pt x="0" y="24871"/>
                      <a:pt x="3566" y="16262"/>
                      <a:pt x="9914" y="9914"/>
                    </a:cubicBezTo>
                    <a:cubicBezTo>
                      <a:pt x="16262" y="3566"/>
                      <a:pt x="24871" y="0"/>
                      <a:pt x="33849" y="0"/>
                    </a:cubicBezTo>
                    <a:close/>
                  </a:path>
                </a:pathLst>
              </a:custGeom>
              <a:ln w="47625" cap="sq">
                <a:solidFill>
                  <a:srgbClr val="4D4A7D"/>
                </a:solidFill>
                <a:prstDash val="solid"/>
                <a:miter/>
              </a:ln>
            </p:spPr>
          </p:sp>
          <p:sp>
            <p:nvSpPr>
              <p:cNvPr id="40" name="TextBox 4"/>
              <p:cNvSpPr txBox="1"/>
              <p:nvPr/>
            </p:nvSpPr>
            <p:spPr>
              <a:xfrm>
                <a:off x="0" y="-38100"/>
                <a:ext cx="1204789" cy="1272989"/>
              </a:xfrm>
              <a:prstGeom prst="rect">
                <a:avLst/>
              </a:prstGeom>
            </p:spPr>
            <p:txBody>
              <a:bodyPr lIns="50800" tIns="50800" rIns="50800" bIns="50800" rtlCol="0" anchor="ctr"/>
              <a:lstStyle/>
              <a:p>
                <a:pPr algn="ctr">
                  <a:lnSpc>
                    <a:spcPts val="2659"/>
                  </a:lnSpc>
                  <a:spcBef>
                    <a:spcPct val="0"/>
                  </a:spcBef>
                </a:pPr>
                <a:endParaRPr/>
              </a:p>
            </p:txBody>
          </p:sp>
        </p:grpSp>
        <p:sp>
          <p:nvSpPr>
            <p:cNvPr id="45" name="TextBox 4"/>
            <p:cNvSpPr txBox="1"/>
            <p:nvPr/>
          </p:nvSpPr>
          <p:spPr>
            <a:xfrm>
              <a:off x="14668762" y="2595029"/>
              <a:ext cx="3172620" cy="5153727"/>
            </a:xfrm>
            <a:prstGeom prst="rect">
              <a:avLst/>
            </a:prstGeom>
          </p:spPr>
          <p:txBody>
            <a:bodyPr lIns="50800" tIns="50800" rIns="50800" bIns="50800" rtlCol="0" anchor="ctr"/>
            <a:lstStyle/>
            <a:p>
              <a:pPr algn="ctr">
                <a:lnSpc>
                  <a:spcPts val="2659"/>
                </a:lnSpc>
                <a:spcBef>
                  <a:spcPct val="0"/>
                </a:spcBef>
              </a:pPr>
              <a:endParaRPr/>
            </a:p>
          </p:txBody>
        </p:sp>
        <p:grpSp>
          <p:nvGrpSpPr>
            <p:cNvPr id="47" name="Google Shape;11968;p67"/>
            <p:cNvGrpSpPr/>
            <p:nvPr/>
          </p:nvGrpSpPr>
          <p:grpSpPr>
            <a:xfrm>
              <a:off x="1371600" y="2933700"/>
              <a:ext cx="1143000" cy="1447800"/>
              <a:chOff x="1394741" y="1512061"/>
              <a:chExt cx="252444" cy="351722"/>
            </a:xfrm>
          </p:grpSpPr>
          <p:sp>
            <p:nvSpPr>
              <p:cNvPr id="48" name="Google Shape;11969;p67"/>
              <p:cNvSpPr/>
              <p:nvPr/>
            </p:nvSpPr>
            <p:spPr>
              <a:xfrm>
                <a:off x="1394741" y="1512061"/>
                <a:ext cx="252444" cy="351722"/>
              </a:xfrm>
              <a:custGeom>
                <a:avLst/>
                <a:gdLst/>
                <a:ahLst/>
                <a:cxnLst/>
                <a:rect l="l" t="t" r="r" b="b"/>
                <a:pathLst>
                  <a:path w="7931" h="11050" extrusionOk="0">
                    <a:moveTo>
                      <a:pt x="3942" y="334"/>
                    </a:moveTo>
                    <a:cubicBezTo>
                      <a:pt x="4132" y="334"/>
                      <a:pt x="4299" y="429"/>
                      <a:pt x="4406" y="595"/>
                    </a:cubicBezTo>
                    <a:cubicBezTo>
                      <a:pt x="4430" y="643"/>
                      <a:pt x="4490" y="667"/>
                      <a:pt x="4537" y="667"/>
                    </a:cubicBezTo>
                    <a:lnTo>
                      <a:pt x="5144" y="667"/>
                    </a:lnTo>
                    <a:cubicBezTo>
                      <a:pt x="5252" y="667"/>
                      <a:pt x="5323" y="762"/>
                      <a:pt x="5323" y="846"/>
                    </a:cubicBezTo>
                    <a:lnTo>
                      <a:pt x="5323" y="1381"/>
                    </a:lnTo>
                    <a:lnTo>
                      <a:pt x="2549" y="1381"/>
                    </a:lnTo>
                    <a:lnTo>
                      <a:pt x="2549" y="846"/>
                    </a:lnTo>
                    <a:lnTo>
                      <a:pt x="2561" y="846"/>
                    </a:lnTo>
                    <a:cubicBezTo>
                      <a:pt x="2561" y="750"/>
                      <a:pt x="2644" y="667"/>
                      <a:pt x="2739" y="667"/>
                    </a:cubicBezTo>
                    <a:lnTo>
                      <a:pt x="3347" y="667"/>
                    </a:lnTo>
                    <a:cubicBezTo>
                      <a:pt x="3406" y="667"/>
                      <a:pt x="3454" y="643"/>
                      <a:pt x="3478" y="595"/>
                    </a:cubicBezTo>
                    <a:cubicBezTo>
                      <a:pt x="3573" y="429"/>
                      <a:pt x="3751" y="334"/>
                      <a:pt x="3942" y="334"/>
                    </a:cubicBezTo>
                    <a:close/>
                    <a:moveTo>
                      <a:pt x="7228" y="1000"/>
                    </a:moveTo>
                    <a:cubicBezTo>
                      <a:pt x="7430" y="1000"/>
                      <a:pt x="7585" y="1167"/>
                      <a:pt x="7585" y="1357"/>
                    </a:cubicBezTo>
                    <a:lnTo>
                      <a:pt x="7585" y="10347"/>
                    </a:lnTo>
                    <a:cubicBezTo>
                      <a:pt x="7585" y="10537"/>
                      <a:pt x="7430" y="10704"/>
                      <a:pt x="7228" y="10704"/>
                    </a:cubicBezTo>
                    <a:lnTo>
                      <a:pt x="668" y="10704"/>
                    </a:lnTo>
                    <a:cubicBezTo>
                      <a:pt x="477" y="10704"/>
                      <a:pt x="310" y="10537"/>
                      <a:pt x="310" y="10347"/>
                    </a:cubicBezTo>
                    <a:lnTo>
                      <a:pt x="310" y="1357"/>
                    </a:lnTo>
                    <a:cubicBezTo>
                      <a:pt x="310" y="1155"/>
                      <a:pt x="477" y="1000"/>
                      <a:pt x="668" y="1000"/>
                    </a:cubicBezTo>
                    <a:lnTo>
                      <a:pt x="2227" y="1000"/>
                    </a:lnTo>
                    <a:lnTo>
                      <a:pt x="2227" y="1536"/>
                    </a:lnTo>
                    <a:cubicBezTo>
                      <a:pt x="2227" y="1619"/>
                      <a:pt x="2311" y="1703"/>
                      <a:pt x="2394" y="1703"/>
                    </a:cubicBezTo>
                    <a:lnTo>
                      <a:pt x="5502" y="1703"/>
                    </a:lnTo>
                    <a:cubicBezTo>
                      <a:pt x="5597" y="1703"/>
                      <a:pt x="5668" y="1619"/>
                      <a:pt x="5668" y="1536"/>
                    </a:cubicBezTo>
                    <a:lnTo>
                      <a:pt x="5668" y="1000"/>
                    </a:lnTo>
                    <a:close/>
                    <a:moveTo>
                      <a:pt x="3954" y="0"/>
                    </a:moveTo>
                    <a:cubicBezTo>
                      <a:pt x="3692" y="0"/>
                      <a:pt x="3442" y="131"/>
                      <a:pt x="3275" y="345"/>
                    </a:cubicBezTo>
                    <a:lnTo>
                      <a:pt x="2751" y="345"/>
                    </a:lnTo>
                    <a:cubicBezTo>
                      <a:pt x="2525" y="345"/>
                      <a:pt x="2335" y="488"/>
                      <a:pt x="2275" y="691"/>
                    </a:cubicBezTo>
                    <a:lnTo>
                      <a:pt x="680" y="691"/>
                    </a:lnTo>
                    <a:cubicBezTo>
                      <a:pt x="310" y="691"/>
                      <a:pt x="1" y="988"/>
                      <a:pt x="1" y="1369"/>
                    </a:cubicBezTo>
                    <a:lnTo>
                      <a:pt x="1" y="10359"/>
                    </a:lnTo>
                    <a:cubicBezTo>
                      <a:pt x="1" y="10728"/>
                      <a:pt x="299" y="11049"/>
                      <a:pt x="680" y="11049"/>
                    </a:cubicBezTo>
                    <a:lnTo>
                      <a:pt x="7252" y="11049"/>
                    </a:lnTo>
                    <a:cubicBezTo>
                      <a:pt x="7621" y="11049"/>
                      <a:pt x="7930" y="10751"/>
                      <a:pt x="7930" y="10359"/>
                    </a:cubicBezTo>
                    <a:lnTo>
                      <a:pt x="7930" y="1369"/>
                    </a:lnTo>
                    <a:cubicBezTo>
                      <a:pt x="7919" y="1000"/>
                      <a:pt x="7609" y="691"/>
                      <a:pt x="7228" y="691"/>
                    </a:cubicBezTo>
                    <a:lnTo>
                      <a:pt x="5644" y="691"/>
                    </a:lnTo>
                    <a:cubicBezTo>
                      <a:pt x="5561" y="488"/>
                      <a:pt x="5383" y="345"/>
                      <a:pt x="5168" y="345"/>
                    </a:cubicBezTo>
                    <a:lnTo>
                      <a:pt x="4644" y="345"/>
                    </a:lnTo>
                    <a:cubicBezTo>
                      <a:pt x="4478" y="131"/>
                      <a:pt x="4228" y="0"/>
                      <a:pt x="3954"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1970;p67"/>
              <p:cNvSpPr/>
              <p:nvPr/>
            </p:nvSpPr>
            <p:spPr>
              <a:xfrm>
                <a:off x="1515282" y="1534024"/>
                <a:ext cx="10631" cy="10281"/>
              </a:xfrm>
              <a:custGeom>
                <a:avLst/>
                <a:gdLst/>
                <a:ahLst/>
                <a:cxnLst/>
                <a:rect l="l" t="t" r="r" b="b"/>
                <a:pathLst>
                  <a:path w="334" h="323" extrusionOk="0">
                    <a:moveTo>
                      <a:pt x="167" y="1"/>
                    </a:moveTo>
                    <a:cubicBezTo>
                      <a:pt x="83" y="1"/>
                      <a:pt x="0" y="72"/>
                      <a:pt x="0" y="156"/>
                    </a:cubicBezTo>
                    <a:cubicBezTo>
                      <a:pt x="0" y="251"/>
                      <a:pt x="83" y="322"/>
                      <a:pt x="167" y="322"/>
                    </a:cubicBezTo>
                    <a:cubicBezTo>
                      <a:pt x="262" y="322"/>
                      <a:pt x="333" y="251"/>
                      <a:pt x="333" y="156"/>
                    </a:cubicBezTo>
                    <a:cubicBezTo>
                      <a:pt x="322" y="72"/>
                      <a:pt x="262" y="1"/>
                      <a:pt x="167"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1971;p67"/>
              <p:cNvSpPr/>
              <p:nvPr/>
            </p:nvSpPr>
            <p:spPr>
              <a:xfrm>
                <a:off x="1415972" y="1534024"/>
                <a:ext cx="231213" cy="296400"/>
              </a:xfrm>
              <a:custGeom>
                <a:avLst/>
                <a:gdLst/>
                <a:ahLst/>
                <a:cxnLst/>
                <a:rect l="l" t="t" r="r" b="b"/>
                <a:pathLst>
                  <a:path w="6550" h="8621" extrusionOk="0">
                    <a:moveTo>
                      <a:pt x="167" y="0"/>
                    </a:moveTo>
                    <a:cubicBezTo>
                      <a:pt x="72" y="0"/>
                      <a:pt x="1" y="84"/>
                      <a:pt x="1" y="167"/>
                    </a:cubicBezTo>
                    <a:lnTo>
                      <a:pt x="1" y="8454"/>
                    </a:lnTo>
                    <a:cubicBezTo>
                      <a:pt x="1" y="8549"/>
                      <a:pt x="72" y="8620"/>
                      <a:pt x="167" y="8620"/>
                    </a:cubicBezTo>
                    <a:lnTo>
                      <a:pt x="6382" y="8620"/>
                    </a:lnTo>
                    <a:cubicBezTo>
                      <a:pt x="6478" y="8620"/>
                      <a:pt x="6549" y="8549"/>
                      <a:pt x="6549" y="8454"/>
                    </a:cubicBezTo>
                    <a:lnTo>
                      <a:pt x="6549" y="167"/>
                    </a:lnTo>
                    <a:cubicBezTo>
                      <a:pt x="6549" y="60"/>
                      <a:pt x="6478" y="0"/>
                      <a:pt x="6382" y="0"/>
                    </a:cubicBezTo>
                    <a:lnTo>
                      <a:pt x="5525" y="0"/>
                    </a:lnTo>
                    <a:cubicBezTo>
                      <a:pt x="5430" y="0"/>
                      <a:pt x="5358" y="84"/>
                      <a:pt x="5358" y="167"/>
                    </a:cubicBezTo>
                    <a:cubicBezTo>
                      <a:pt x="5358" y="262"/>
                      <a:pt x="5430" y="334"/>
                      <a:pt x="5525" y="334"/>
                    </a:cubicBezTo>
                    <a:lnTo>
                      <a:pt x="6228" y="334"/>
                    </a:lnTo>
                    <a:lnTo>
                      <a:pt x="6228" y="8311"/>
                    </a:lnTo>
                    <a:lnTo>
                      <a:pt x="322" y="8311"/>
                    </a:lnTo>
                    <a:lnTo>
                      <a:pt x="322" y="334"/>
                    </a:lnTo>
                    <a:lnTo>
                      <a:pt x="1025" y="334"/>
                    </a:lnTo>
                    <a:cubicBezTo>
                      <a:pt x="1120" y="334"/>
                      <a:pt x="1191" y="262"/>
                      <a:pt x="1191" y="167"/>
                    </a:cubicBezTo>
                    <a:cubicBezTo>
                      <a:pt x="1191" y="84"/>
                      <a:pt x="1120" y="0"/>
                      <a:pt x="1025"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1972;p67"/>
              <p:cNvSpPr/>
              <p:nvPr/>
            </p:nvSpPr>
            <p:spPr>
              <a:xfrm>
                <a:off x="1449330" y="1665927"/>
                <a:ext cx="31862" cy="32244"/>
              </a:xfrm>
              <a:custGeom>
                <a:avLst/>
                <a:gdLst/>
                <a:ahLst/>
                <a:cxnLst/>
                <a:rect l="l" t="t" r="r" b="b"/>
                <a:pathLst>
                  <a:path w="1001" h="1013" extrusionOk="0">
                    <a:moveTo>
                      <a:pt x="500" y="333"/>
                    </a:moveTo>
                    <a:cubicBezTo>
                      <a:pt x="608" y="333"/>
                      <a:pt x="679" y="417"/>
                      <a:pt x="679" y="512"/>
                    </a:cubicBezTo>
                    <a:cubicBezTo>
                      <a:pt x="679" y="595"/>
                      <a:pt x="608" y="691"/>
                      <a:pt x="500" y="691"/>
                    </a:cubicBezTo>
                    <a:cubicBezTo>
                      <a:pt x="393" y="691"/>
                      <a:pt x="322" y="595"/>
                      <a:pt x="322" y="512"/>
                    </a:cubicBezTo>
                    <a:cubicBezTo>
                      <a:pt x="322" y="417"/>
                      <a:pt x="417" y="333"/>
                      <a:pt x="500" y="333"/>
                    </a:cubicBezTo>
                    <a:close/>
                    <a:moveTo>
                      <a:pt x="500" y="0"/>
                    </a:moveTo>
                    <a:cubicBezTo>
                      <a:pt x="215" y="0"/>
                      <a:pt x="0" y="226"/>
                      <a:pt x="0" y="512"/>
                    </a:cubicBezTo>
                    <a:cubicBezTo>
                      <a:pt x="0" y="786"/>
                      <a:pt x="215" y="1012"/>
                      <a:pt x="500" y="1012"/>
                    </a:cubicBezTo>
                    <a:cubicBezTo>
                      <a:pt x="786" y="1012"/>
                      <a:pt x="1001" y="786"/>
                      <a:pt x="1001" y="512"/>
                    </a:cubicBezTo>
                    <a:cubicBezTo>
                      <a:pt x="1001" y="226"/>
                      <a:pt x="786" y="0"/>
                      <a:pt x="500"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1973;p67"/>
              <p:cNvSpPr/>
              <p:nvPr/>
            </p:nvSpPr>
            <p:spPr>
              <a:xfrm>
                <a:off x="1449330" y="1728168"/>
                <a:ext cx="31862" cy="32244"/>
              </a:xfrm>
              <a:custGeom>
                <a:avLst/>
                <a:gdLst/>
                <a:ahLst/>
                <a:cxnLst/>
                <a:rect l="l" t="t" r="r" b="b"/>
                <a:pathLst>
                  <a:path w="1001" h="1013" extrusionOk="0">
                    <a:moveTo>
                      <a:pt x="500" y="346"/>
                    </a:moveTo>
                    <a:cubicBezTo>
                      <a:pt x="608" y="346"/>
                      <a:pt x="679" y="441"/>
                      <a:pt x="679" y="525"/>
                    </a:cubicBezTo>
                    <a:cubicBezTo>
                      <a:pt x="679" y="608"/>
                      <a:pt x="608" y="703"/>
                      <a:pt x="500" y="703"/>
                    </a:cubicBezTo>
                    <a:cubicBezTo>
                      <a:pt x="393" y="703"/>
                      <a:pt x="322" y="608"/>
                      <a:pt x="322" y="525"/>
                    </a:cubicBezTo>
                    <a:cubicBezTo>
                      <a:pt x="322" y="441"/>
                      <a:pt x="417" y="346"/>
                      <a:pt x="500" y="346"/>
                    </a:cubicBezTo>
                    <a:close/>
                    <a:moveTo>
                      <a:pt x="500" y="1"/>
                    </a:moveTo>
                    <a:cubicBezTo>
                      <a:pt x="215" y="1"/>
                      <a:pt x="0" y="227"/>
                      <a:pt x="0" y="513"/>
                    </a:cubicBezTo>
                    <a:cubicBezTo>
                      <a:pt x="0" y="787"/>
                      <a:pt x="215" y="1013"/>
                      <a:pt x="500" y="1013"/>
                    </a:cubicBezTo>
                    <a:cubicBezTo>
                      <a:pt x="786" y="1013"/>
                      <a:pt x="1001" y="787"/>
                      <a:pt x="1001" y="513"/>
                    </a:cubicBezTo>
                    <a:cubicBezTo>
                      <a:pt x="1001" y="227"/>
                      <a:pt x="786" y="1"/>
                      <a:pt x="500"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1974;p67"/>
              <p:cNvSpPr/>
              <p:nvPr/>
            </p:nvSpPr>
            <p:spPr>
              <a:xfrm>
                <a:off x="1449330" y="1765205"/>
                <a:ext cx="31862" cy="31862"/>
              </a:xfrm>
              <a:custGeom>
                <a:avLst/>
                <a:gdLst/>
                <a:ahLst/>
                <a:cxnLst/>
                <a:rect l="l" t="t" r="r" b="b"/>
                <a:pathLst>
                  <a:path w="1001" h="1001" extrusionOk="0">
                    <a:moveTo>
                      <a:pt x="500" y="322"/>
                    </a:moveTo>
                    <a:cubicBezTo>
                      <a:pt x="608" y="322"/>
                      <a:pt x="679" y="417"/>
                      <a:pt x="679" y="501"/>
                    </a:cubicBezTo>
                    <a:cubicBezTo>
                      <a:pt x="691" y="608"/>
                      <a:pt x="608" y="679"/>
                      <a:pt x="500" y="679"/>
                    </a:cubicBezTo>
                    <a:cubicBezTo>
                      <a:pt x="393" y="679"/>
                      <a:pt x="322" y="584"/>
                      <a:pt x="322" y="501"/>
                    </a:cubicBezTo>
                    <a:cubicBezTo>
                      <a:pt x="322" y="393"/>
                      <a:pt x="417" y="322"/>
                      <a:pt x="500" y="322"/>
                    </a:cubicBezTo>
                    <a:close/>
                    <a:moveTo>
                      <a:pt x="500" y="1"/>
                    </a:moveTo>
                    <a:cubicBezTo>
                      <a:pt x="215" y="1"/>
                      <a:pt x="0" y="215"/>
                      <a:pt x="0" y="501"/>
                    </a:cubicBezTo>
                    <a:cubicBezTo>
                      <a:pt x="0" y="786"/>
                      <a:pt x="215" y="1001"/>
                      <a:pt x="500" y="1001"/>
                    </a:cubicBezTo>
                    <a:cubicBezTo>
                      <a:pt x="786" y="1001"/>
                      <a:pt x="1001" y="786"/>
                      <a:pt x="1001" y="501"/>
                    </a:cubicBezTo>
                    <a:cubicBezTo>
                      <a:pt x="1001" y="215"/>
                      <a:pt x="786" y="1"/>
                      <a:pt x="500"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1975;p67"/>
              <p:cNvSpPr/>
              <p:nvPr/>
            </p:nvSpPr>
            <p:spPr>
              <a:xfrm>
                <a:off x="1493287" y="1665927"/>
                <a:ext cx="59522" cy="10631"/>
              </a:xfrm>
              <a:custGeom>
                <a:avLst/>
                <a:gdLst/>
                <a:ahLst/>
                <a:cxnLst/>
                <a:rect l="l" t="t" r="r" b="b"/>
                <a:pathLst>
                  <a:path w="1870" h="334" extrusionOk="0">
                    <a:moveTo>
                      <a:pt x="167" y="0"/>
                    </a:moveTo>
                    <a:cubicBezTo>
                      <a:pt x="72" y="0"/>
                      <a:pt x="1" y="72"/>
                      <a:pt x="1" y="167"/>
                    </a:cubicBezTo>
                    <a:cubicBezTo>
                      <a:pt x="1" y="262"/>
                      <a:pt x="72" y="333"/>
                      <a:pt x="167" y="333"/>
                    </a:cubicBezTo>
                    <a:lnTo>
                      <a:pt x="1703" y="333"/>
                    </a:lnTo>
                    <a:cubicBezTo>
                      <a:pt x="1798" y="333"/>
                      <a:pt x="1870" y="262"/>
                      <a:pt x="1870" y="167"/>
                    </a:cubicBezTo>
                    <a:cubicBezTo>
                      <a:pt x="1870" y="72"/>
                      <a:pt x="1798" y="0"/>
                      <a:pt x="1703"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1976;p67"/>
              <p:cNvSpPr/>
              <p:nvPr/>
            </p:nvSpPr>
            <p:spPr>
              <a:xfrm>
                <a:off x="1493287" y="1687890"/>
                <a:ext cx="98578" cy="10281"/>
              </a:xfrm>
              <a:custGeom>
                <a:avLst/>
                <a:gdLst/>
                <a:ahLst/>
                <a:cxnLst/>
                <a:rect l="l" t="t" r="r" b="b"/>
                <a:pathLst>
                  <a:path w="3097" h="323" extrusionOk="0">
                    <a:moveTo>
                      <a:pt x="167" y="1"/>
                    </a:moveTo>
                    <a:cubicBezTo>
                      <a:pt x="72" y="1"/>
                      <a:pt x="1" y="72"/>
                      <a:pt x="1" y="167"/>
                    </a:cubicBezTo>
                    <a:cubicBezTo>
                      <a:pt x="1" y="251"/>
                      <a:pt x="72" y="322"/>
                      <a:pt x="167" y="322"/>
                    </a:cubicBezTo>
                    <a:lnTo>
                      <a:pt x="2929" y="322"/>
                    </a:lnTo>
                    <a:cubicBezTo>
                      <a:pt x="3025" y="322"/>
                      <a:pt x="3096" y="251"/>
                      <a:pt x="3096" y="167"/>
                    </a:cubicBezTo>
                    <a:cubicBezTo>
                      <a:pt x="3096" y="72"/>
                      <a:pt x="3025" y="1"/>
                      <a:pt x="2929"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1977;p67"/>
              <p:cNvSpPr/>
              <p:nvPr/>
            </p:nvSpPr>
            <p:spPr>
              <a:xfrm>
                <a:off x="1493287" y="1715168"/>
                <a:ext cx="59522" cy="10663"/>
              </a:xfrm>
              <a:custGeom>
                <a:avLst/>
                <a:gdLst/>
                <a:ahLst/>
                <a:cxnLst/>
                <a:rect l="l" t="t" r="r" b="b"/>
                <a:pathLst>
                  <a:path w="1870" h="335" extrusionOk="0">
                    <a:moveTo>
                      <a:pt x="167" y="1"/>
                    </a:moveTo>
                    <a:cubicBezTo>
                      <a:pt x="72" y="1"/>
                      <a:pt x="1" y="84"/>
                      <a:pt x="1" y="168"/>
                    </a:cubicBezTo>
                    <a:cubicBezTo>
                      <a:pt x="1" y="263"/>
                      <a:pt x="72" y="334"/>
                      <a:pt x="167" y="334"/>
                    </a:cubicBezTo>
                    <a:lnTo>
                      <a:pt x="1703" y="334"/>
                    </a:lnTo>
                    <a:cubicBezTo>
                      <a:pt x="1798" y="334"/>
                      <a:pt x="1870" y="263"/>
                      <a:pt x="1870" y="168"/>
                    </a:cubicBezTo>
                    <a:cubicBezTo>
                      <a:pt x="1870" y="84"/>
                      <a:pt x="1798" y="1"/>
                      <a:pt x="1703"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1978;p67"/>
              <p:cNvSpPr/>
              <p:nvPr/>
            </p:nvSpPr>
            <p:spPr>
              <a:xfrm>
                <a:off x="1493287" y="1737545"/>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1979;p67"/>
              <p:cNvSpPr/>
              <p:nvPr/>
            </p:nvSpPr>
            <p:spPr>
              <a:xfrm>
                <a:off x="1493287" y="1765205"/>
                <a:ext cx="59522" cy="10249"/>
              </a:xfrm>
              <a:custGeom>
                <a:avLst/>
                <a:gdLst/>
                <a:ahLst/>
                <a:cxnLst/>
                <a:rect l="l" t="t" r="r" b="b"/>
                <a:pathLst>
                  <a:path w="1870" h="322" extrusionOk="0">
                    <a:moveTo>
                      <a:pt x="167" y="1"/>
                    </a:moveTo>
                    <a:cubicBezTo>
                      <a:pt x="72" y="1"/>
                      <a:pt x="1" y="72"/>
                      <a:pt x="1" y="155"/>
                    </a:cubicBezTo>
                    <a:cubicBezTo>
                      <a:pt x="1" y="251"/>
                      <a:pt x="72" y="322"/>
                      <a:pt x="167" y="322"/>
                    </a:cubicBezTo>
                    <a:lnTo>
                      <a:pt x="1703" y="322"/>
                    </a:lnTo>
                    <a:cubicBezTo>
                      <a:pt x="1798" y="322"/>
                      <a:pt x="1870" y="251"/>
                      <a:pt x="1870" y="155"/>
                    </a:cubicBezTo>
                    <a:cubicBezTo>
                      <a:pt x="1870" y="72"/>
                      <a:pt x="1798" y="1"/>
                      <a:pt x="1703" y="1"/>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1980;p67"/>
              <p:cNvSpPr/>
              <p:nvPr/>
            </p:nvSpPr>
            <p:spPr>
              <a:xfrm>
                <a:off x="1493287" y="1786818"/>
                <a:ext cx="98578" cy="10631"/>
              </a:xfrm>
              <a:custGeom>
                <a:avLst/>
                <a:gdLst/>
                <a:ahLst/>
                <a:cxnLst/>
                <a:rect l="l" t="t" r="r" b="b"/>
                <a:pathLst>
                  <a:path w="3097" h="334" extrusionOk="0">
                    <a:moveTo>
                      <a:pt x="167" y="0"/>
                    </a:moveTo>
                    <a:cubicBezTo>
                      <a:pt x="72" y="0"/>
                      <a:pt x="1" y="72"/>
                      <a:pt x="1" y="167"/>
                    </a:cubicBezTo>
                    <a:cubicBezTo>
                      <a:pt x="1" y="250"/>
                      <a:pt x="72" y="334"/>
                      <a:pt x="167" y="334"/>
                    </a:cubicBezTo>
                    <a:lnTo>
                      <a:pt x="2929" y="334"/>
                    </a:lnTo>
                    <a:cubicBezTo>
                      <a:pt x="3025" y="334"/>
                      <a:pt x="3096" y="250"/>
                      <a:pt x="3096" y="167"/>
                    </a:cubicBezTo>
                    <a:cubicBezTo>
                      <a:pt x="3096" y="72"/>
                      <a:pt x="3025" y="0"/>
                      <a:pt x="2929"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1981;p67"/>
              <p:cNvSpPr/>
              <p:nvPr/>
            </p:nvSpPr>
            <p:spPr>
              <a:xfrm>
                <a:off x="1493287" y="1583679"/>
                <a:ext cx="98578" cy="10249"/>
              </a:xfrm>
              <a:custGeom>
                <a:avLst/>
                <a:gdLst/>
                <a:ahLst/>
                <a:cxnLst/>
                <a:rect l="l" t="t" r="r" b="b"/>
                <a:pathLst>
                  <a:path w="3097" h="322" extrusionOk="0">
                    <a:moveTo>
                      <a:pt x="167" y="0"/>
                    </a:moveTo>
                    <a:cubicBezTo>
                      <a:pt x="72" y="0"/>
                      <a:pt x="1" y="72"/>
                      <a:pt x="1" y="167"/>
                    </a:cubicBezTo>
                    <a:cubicBezTo>
                      <a:pt x="1" y="250"/>
                      <a:pt x="72" y="322"/>
                      <a:pt x="167" y="322"/>
                    </a:cubicBezTo>
                    <a:lnTo>
                      <a:pt x="2929" y="322"/>
                    </a:lnTo>
                    <a:cubicBezTo>
                      <a:pt x="3025" y="322"/>
                      <a:pt x="3096" y="250"/>
                      <a:pt x="3096" y="167"/>
                    </a:cubicBezTo>
                    <a:cubicBezTo>
                      <a:pt x="3096" y="72"/>
                      <a:pt x="3025" y="0"/>
                      <a:pt x="2929"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1982;p67"/>
              <p:cNvSpPr/>
              <p:nvPr/>
            </p:nvSpPr>
            <p:spPr>
              <a:xfrm>
                <a:off x="1449330" y="1632951"/>
                <a:ext cx="142535" cy="10249"/>
              </a:xfrm>
              <a:custGeom>
                <a:avLst/>
                <a:gdLst/>
                <a:ahLst/>
                <a:cxnLst/>
                <a:rect l="l" t="t" r="r" b="b"/>
                <a:pathLst>
                  <a:path w="4478" h="322" extrusionOk="0">
                    <a:moveTo>
                      <a:pt x="155" y="0"/>
                    </a:moveTo>
                    <a:cubicBezTo>
                      <a:pt x="72" y="0"/>
                      <a:pt x="0" y="72"/>
                      <a:pt x="0" y="167"/>
                    </a:cubicBezTo>
                    <a:cubicBezTo>
                      <a:pt x="0" y="250"/>
                      <a:pt x="72" y="322"/>
                      <a:pt x="155" y="322"/>
                    </a:cubicBezTo>
                    <a:lnTo>
                      <a:pt x="4310" y="322"/>
                    </a:lnTo>
                    <a:cubicBezTo>
                      <a:pt x="4406" y="322"/>
                      <a:pt x="4477" y="250"/>
                      <a:pt x="4477" y="167"/>
                    </a:cubicBezTo>
                    <a:cubicBezTo>
                      <a:pt x="4477" y="72"/>
                      <a:pt x="4406" y="0"/>
                      <a:pt x="4310"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1983;p67"/>
              <p:cNvSpPr/>
              <p:nvPr/>
            </p:nvSpPr>
            <p:spPr>
              <a:xfrm>
                <a:off x="1507133" y="1602040"/>
                <a:ext cx="26928" cy="10631"/>
              </a:xfrm>
              <a:custGeom>
                <a:avLst/>
                <a:gdLst/>
                <a:ahLst/>
                <a:cxnLst/>
                <a:rect l="l" t="t" r="r" b="b"/>
                <a:pathLst>
                  <a:path w="846" h="334" extrusionOk="0">
                    <a:moveTo>
                      <a:pt x="167" y="0"/>
                    </a:moveTo>
                    <a:cubicBezTo>
                      <a:pt x="72" y="0"/>
                      <a:pt x="1" y="83"/>
                      <a:pt x="1" y="167"/>
                    </a:cubicBezTo>
                    <a:cubicBezTo>
                      <a:pt x="1" y="262"/>
                      <a:pt x="72" y="333"/>
                      <a:pt x="167" y="333"/>
                    </a:cubicBezTo>
                    <a:lnTo>
                      <a:pt x="679" y="333"/>
                    </a:lnTo>
                    <a:cubicBezTo>
                      <a:pt x="774" y="333"/>
                      <a:pt x="846" y="262"/>
                      <a:pt x="846" y="167"/>
                    </a:cubicBezTo>
                    <a:cubicBezTo>
                      <a:pt x="846" y="83"/>
                      <a:pt x="774" y="0"/>
                      <a:pt x="679"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1984;p67"/>
              <p:cNvSpPr/>
              <p:nvPr/>
            </p:nvSpPr>
            <p:spPr>
              <a:xfrm>
                <a:off x="1546285" y="1601465"/>
                <a:ext cx="26928" cy="10631"/>
              </a:xfrm>
              <a:custGeom>
                <a:avLst/>
                <a:gdLst/>
                <a:ahLst/>
                <a:cxnLst/>
                <a:rect l="l" t="t" r="r" b="b"/>
                <a:pathLst>
                  <a:path w="846" h="334" extrusionOk="0">
                    <a:moveTo>
                      <a:pt x="167" y="0"/>
                    </a:moveTo>
                    <a:cubicBezTo>
                      <a:pt x="71" y="0"/>
                      <a:pt x="0" y="83"/>
                      <a:pt x="0" y="167"/>
                    </a:cubicBezTo>
                    <a:cubicBezTo>
                      <a:pt x="0" y="262"/>
                      <a:pt x="71" y="333"/>
                      <a:pt x="167" y="333"/>
                    </a:cubicBezTo>
                    <a:lnTo>
                      <a:pt x="691" y="333"/>
                    </a:lnTo>
                    <a:cubicBezTo>
                      <a:pt x="774" y="333"/>
                      <a:pt x="845" y="262"/>
                      <a:pt x="845" y="167"/>
                    </a:cubicBezTo>
                    <a:cubicBezTo>
                      <a:pt x="845" y="83"/>
                      <a:pt x="774" y="0"/>
                      <a:pt x="691"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1985;p67"/>
              <p:cNvSpPr/>
              <p:nvPr/>
            </p:nvSpPr>
            <p:spPr>
              <a:xfrm>
                <a:off x="1449712" y="1583679"/>
                <a:ext cx="32244" cy="32244"/>
              </a:xfrm>
              <a:custGeom>
                <a:avLst/>
                <a:gdLst/>
                <a:ahLst/>
                <a:cxnLst/>
                <a:rect l="l" t="t" r="r" b="b"/>
                <a:pathLst>
                  <a:path w="1013" h="1013" extrusionOk="0">
                    <a:moveTo>
                      <a:pt x="679" y="310"/>
                    </a:moveTo>
                    <a:lnTo>
                      <a:pt x="679" y="679"/>
                    </a:lnTo>
                    <a:lnTo>
                      <a:pt x="310" y="679"/>
                    </a:lnTo>
                    <a:lnTo>
                      <a:pt x="310" y="310"/>
                    </a:lnTo>
                    <a:close/>
                    <a:moveTo>
                      <a:pt x="155" y="0"/>
                    </a:moveTo>
                    <a:cubicBezTo>
                      <a:pt x="72" y="0"/>
                      <a:pt x="0" y="72"/>
                      <a:pt x="0" y="167"/>
                    </a:cubicBezTo>
                    <a:lnTo>
                      <a:pt x="0" y="846"/>
                    </a:lnTo>
                    <a:cubicBezTo>
                      <a:pt x="0" y="941"/>
                      <a:pt x="72" y="1012"/>
                      <a:pt x="155" y="1012"/>
                    </a:cubicBezTo>
                    <a:lnTo>
                      <a:pt x="846" y="1012"/>
                    </a:lnTo>
                    <a:cubicBezTo>
                      <a:pt x="941" y="1012"/>
                      <a:pt x="1012" y="941"/>
                      <a:pt x="1012" y="846"/>
                    </a:cubicBezTo>
                    <a:lnTo>
                      <a:pt x="1012" y="167"/>
                    </a:lnTo>
                    <a:cubicBezTo>
                      <a:pt x="989" y="60"/>
                      <a:pt x="941" y="0"/>
                      <a:pt x="846" y="0"/>
                    </a:cubicBezTo>
                    <a:close/>
                  </a:path>
                </a:pathLst>
              </a:custGeom>
              <a:solidFill>
                <a:schemeClr val="accent4">
                  <a:lumMod val="7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TextBox 13"/>
            <p:cNvSpPr txBox="1"/>
            <p:nvPr/>
          </p:nvSpPr>
          <p:spPr>
            <a:xfrm>
              <a:off x="11190376" y="4549087"/>
              <a:ext cx="3095470" cy="2646566"/>
            </a:xfrm>
            <a:prstGeom prst="rect">
              <a:avLst/>
            </a:prstGeom>
          </p:spPr>
          <p:txBody>
            <a:bodyPr wrap="square" lIns="0" tIns="0" rIns="0" bIns="0" rtlCol="0" anchor="t">
              <a:spAutoFit/>
            </a:bodyPr>
            <a:lstStyle/>
            <a:p>
              <a:pPr algn="ctr">
                <a:lnSpc>
                  <a:spcPts val="3919"/>
                </a:lnSpc>
              </a:pPr>
              <a:r>
                <a:rPr lang="en-US" sz="2799" b="1" dirty="0">
                  <a:solidFill>
                    <a:srgbClr val="4D4A7D"/>
                  </a:solidFill>
                  <a:latin typeface="Poppins"/>
                  <a:ea typeface="Poppins"/>
                  <a:cs typeface="Poppins"/>
                  <a:sym typeface="Poppins"/>
                </a:rPr>
                <a:t>Total Revenue</a:t>
              </a:r>
            </a:p>
            <a:p>
              <a:pPr algn="ctr">
                <a:lnSpc>
                  <a:spcPts val="3919"/>
                </a:lnSpc>
              </a:pPr>
              <a:r>
                <a:rPr lang="en-US" sz="4000" b="1" dirty="0">
                  <a:solidFill>
                    <a:srgbClr val="4D4A7D"/>
                  </a:solidFill>
                  <a:latin typeface="Poppins"/>
                  <a:ea typeface="Poppins"/>
                  <a:cs typeface="Poppins"/>
                  <a:sym typeface="Poppins"/>
                </a:rPr>
                <a:t>30.65M</a:t>
              </a:r>
            </a:p>
            <a:p>
              <a:pPr algn="ctr">
                <a:lnSpc>
                  <a:spcPts val="3919"/>
                </a:lnSpc>
              </a:pPr>
              <a:r>
                <a:rPr lang="en-US" sz="2400" dirty="0">
                  <a:solidFill>
                    <a:srgbClr val="4D4A7D"/>
                  </a:solidFill>
                  <a:latin typeface="Poppins"/>
                  <a:ea typeface="Poppins"/>
                  <a:cs typeface="Poppins"/>
                  <a:sym typeface="Poppins"/>
                </a:rPr>
                <a:t>Strong financial performance and revenue generation capability</a:t>
              </a:r>
            </a:p>
          </p:txBody>
        </p:sp>
        <p:sp>
          <p:nvSpPr>
            <p:cNvPr id="67" name="TextBox 13"/>
            <p:cNvSpPr txBox="1"/>
            <p:nvPr/>
          </p:nvSpPr>
          <p:spPr>
            <a:xfrm>
              <a:off x="7596265" y="4548458"/>
              <a:ext cx="3095470" cy="2205472"/>
            </a:xfrm>
            <a:prstGeom prst="rect">
              <a:avLst/>
            </a:prstGeom>
          </p:spPr>
          <p:txBody>
            <a:bodyPr wrap="square" lIns="0" tIns="0" rIns="0" bIns="0" rtlCol="0" anchor="t">
              <a:spAutoFit/>
            </a:bodyPr>
            <a:lstStyle/>
            <a:p>
              <a:pPr algn="ctr">
                <a:lnSpc>
                  <a:spcPts val="3919"/>
                </a:lnSpc>
              </a:pPr>
              <a:r>
                <a:rPr lang="en-US" sz="2799" b="1" dirty="0">
                  <a:solidFill>
                    <a:srgbClr val="4D4A7D"/>
                  </a:solidFill>
                  <a:latin typeface="Poppins"/>
                  <a:ea typeface="Poppins"/>
                  <a:cs typeface="Poppins"/>
                  <a:sym typeface="Poppins"/>
                </a:rPr>
                <a:t>Total Doctors</a:t>
              </a:r>
            </a:p>
            <a:p>
              <a:pPr algn="ctr">
                <a:lnSpc>
                  <a:spcPts val="3919"/>
                </a:lnSpc>
              </a:pPr>
              <a:r>
                <a:rPr lang="en-US" sz="4000" b="1" dirty="0">
                  <a:solidFill>
                    <a:srgbClr val="4D4A7D"/>
                  </a:solidFill>
                  <a:latin typeface="Poppins"/>
                  <a:ea typeface="Poppins"/>
                  <a:cs typeface="Poppins"/>
                  <a:sym typeface="Poppins"/>
                </a:rPr>
                <a:t>1K</a:t>
              </a:r>
            </a:p>
            <a:p>
              <a:pPr algn="ctr">
                <a:lnSpc>
                  <a:spcPts val="3919"/>
                </a:lnSpc>
              </a:pPr>
              <a:r>
                <a:rPr lang="en-US" sz="2400" dirty="0">
                  <a:solidFill>
                    <a:srgbClr val="4D4A7D"/>
                  </a:solidFill>
                  <a:latin typeface="Poppins"/>
                  <a:ea typeface="Poppins"/>
                  <a:cs typeface="Poppins"/>
                  <a:sym typeface="Poppins"/>
                </a:rPr>
                <a:t>Good workforce size to manage patient load efficiently</a:t>
              </a:r>
            </a:p>
          </p:txBody>
        </p:sp>
        <p:sp>
          <p:nvSpPr>
            <p:cNvPr id="68" name="TextBox 13"/>
            <p:cNvSpPr txBox="1"/>
            <p:nvPr/>
          </p:nvSpPr>
          <p:spPr>
            <a:xfrm>
              <a:off x="4040729" y="4548458"/>
              <a:ext cx="3095470" cy="3087660"/>
            </a:xfrm>
            <a:prstGeom prst="rect">
              <a:avLst/>
            </a:prstGeom>
          </p:spPr>
          <p:txBody>
            <a:bodyPr wrap="square" lIns="0" tIns="0" rIns="0" bIns="0" rtlCol="0" anchor="t">
              <a:spAutoFit/>
            </a:bodyPr>
            <a:lstStyle/>
            <a:p>
              <a:pPr algn="ctr">
                <a:lnSpc>
                  <a:spcPts val="3919"/>
                </a:lnSpc>
              </a:pPr>
              <a:r>
                <a:rPr lang="en-US" sz="2799" b="1" dirty="0">
                  <a:solidFill>
                    <a:srgbClr val="4D4A7D"/>
                  </a:solidFill>
                  <a:latin typeface="Poppins"/>
                  <a:ea typeface="Poppins"/>
                  <a:cs typeface="Poppins"/>
                  <a:sym typeface="Poppins"/>
                </a:rPr>
                <a:t>Total Patients</a:t>
              </a:r>
            </a:p>
            <a:p>
              <a:pPr algn="ctr">
                <a:lnSpc>
                  <a:spcPts val="3919"/>
                </a:lnSpc>
              </a:pPr>
              <a:r>
                <a:rPr lang="en-US" sz="4000" b="1" dirty="0">
                  <a:solidFill>
                    <a:srgbClr val="4D4A7D"/>
                  </a:solidFill>
                  <a:latin typeface="Poppins"/>
                  <a:ea typeface="Poppins"/>
                  <a:cs typeface="Poppins"/>
                  <a:sym typeface="Poppins"/>
                </a:rPr>
                <a:t>10K</a:t>
              </a:r>
            </a:p>
            <a:p>
              <a:pPr algn="ctr">
                <a:lnSpc>
                  <a:spcPts val="3919"/>
                </a:lnSpc>
              </a:pPr>
              <a:r>
                <a:rPr lang="en-US" sz="2400" dirty="0">
                  <a:solidFill>
                    <a:srgbClr val="4D4A7D"/>
                  </a:solidFill>
                  <a:latin typeface="Poppins"/>
                  <a:ea typeface="Poppins"/>
                  <a:cs typeface="Poppins"/>
                  <a:sym typeface="Poppins"/>
                </a:rPr>
                <a:t>Strong patient base indicates high hospital demand and stable operations</a:t>
              </a:r>
            </a:p>
          </p:txBody>
        </p:sp>
      </p:grpSp>
      <p:grpSp>
        <p:nvGrpSpPr>
          <p:cNvPr id="70" name="Google Shape;9809;p64"/>
          <p:cNvGrpSpPr/>
          <p:nvPr/>
        </p:nvGrpSpPr>
        <p:grpSpPr>
          <a:xfrm>
            <a:off x="10411882" y="2393805"/>
            <a:ext cx="1295400" cy="1641595"/>
            <a:chOff x="7598438" y="4266131"/>
            <a:chExt cx="260283" cy="345914"/>
          </a:xfrm>
          <a:solidFill>
            <a:schemeClr val="accent4">
              <a:lumMod val="75000"/>
            </a:schemeClr>
          </a:solidFill>
        </p:grpSpPr>
        <p:sp>
          <p:nvSpPr>
            <p:cNvPr id="71" name="Google Shape;9810;p64"/>
            <p:cNvSpPr/>
            <p:nvPr/>
          </p:nvSpPr>
          <p:spPr>
            <a:xfrm>
              <a:off x="7598438" y="4266131"/>
              <a:ext cx="260283" cy="345914"/>
            </a:xfrm>
            <a:custGeom>
              <a:avLst/>
              <a:gdLst/>
              <a:ahLst/>
              <a:cxnLst/>
              <a:rect l="l" t="t" r="r" b="b"/>
              <a:pathLst>
                <a:path w="8216" h="10919" extrusionOk="0">
                  <a:moveTo>
                    <a:pt x="6525" y="3477"/>
                  </a:moveTo>
                  <a:cubicBezTo>
                    <a:pt x="6644" y="3513"/>
                    <a:pt x="6763" y="3525"/>
                    <a:pt x="6882" y="3537"/>
                  </a:cubicBezTo>
                  <a:lnTo>
                    <a:pt x="6882" y="4430"/>
                  </a:lnTo>
                  <a:cubicBezTo>
                    <a:pt x="6882" y="4882"/>
                    <a:pt x="6941" y="5251"/>
                    <a:pt x="7060" y="5549"/>
                  </a:cubicBezTo>
                  <a:cubicBezTo>
                    <a:pt x="7072" y="5597"/>
                    <a:pt x="7072" y="5656"/>
                    <a:pt x="7060" y="5692"/>
                  </a:cubicBezTo>
                  <a:cubicBezTo>
                    <a:pt x="7037" y="5740"/>
                    <a:pt x="7001" y="5775"/>
                    <a:pt x="6953" y="5787"/>
                  </a:cubicBezTo>
                  <a:cubicBezTo>
                    <a:pt x="6608" y="5906"/>
                    <a:pt x="6120" y="6049"/>
                    <a:pt x="5572" y="6156"/>
                  </a:cubicBezTo>
                  <a:cubicBezTo>
                    <a:pt x="6144" y="5728"/>
                    <a:pt x="6525" y="5025"/>
                    <a:pt x="6525" y="4251"/>
                  </a:cubicBezTo>
                  <a:lnTo>
                    <a:pt x="6525" y="3477"/>
                  </a:lnTo>
                  <a:close/>
                  <a:moveTo>
                    <a:pt x="4120" y="334"/>
                  </a:moveTo>
                  <a:cubicBezTo>
                    <a:pt x="5644" y="334"/>
                    <a:pt x="6882" y="1572"/>
                    <a:pt x="6882" y="3096"/>
                  </a:cubicBezTo>
                  <a:lnTo>
                    <a:pt x="6882" y="3239"/>
                  </a:lnTo>
                  <a:cubicBezTo>
                    <a:pt x="6596" y="3192"/>
                    <a:pt x="6322" y="3132"/>
                    <a:pt x="6060" y="3061"/>
                  </a:cubicBezTo>
                  <a:cubicBezTo>
                    <a:pt x="6043" y="3054"/>
                    <a:pt x="6026" y="3051"/>
                    <a:pt x="6010" y="3051"/>
                  </a:cubicBezTo>
                  <a:cubicBezTo>
                    <a:pt x="5937" y="3051"/>
                    <a:pt x="5880" y="3112"/>
                    <a:pt x="5870" y="3180"/>
                  </a:cubicBezTo>
                  <a:cubicBezTo>
                    <a:pt x="5834" y="3263"/>
                    <a:pt x="5894" y="3358"/>
                    <a:pt x="5989" y="3370"/>
                  </a:cubicBezTo>
                  <a:cubicBezTo>
                    <a:pt x="6060" y="3382"/>
                    <a:pt x="6132" y="3418"/>
                    <a:pt x="6203" y="3430"/>
                  </a:cubicBezTo>
                  <a:lnTo>
                    <a:pt x="6203" y="4275"/>
                  </a:lnTo>
                  <a:cubicBezTo>
                    <a:pt x="6191" y="5394"/>
                    <a:pt x="5275" y="6323"/>
                    <a:pt x="4120" y="6323"/>
                  </a:cubicBezTo>
                  <a:cubicBezTo>
                    <a:pt x="2989" y="6323"/>
                    <a:pt x="2060" y="5394"/>
                    <a:pt x="2060" y="4251"/>
                  </a:cubicBezTo>
                  <a:lnTo>
                    <a:pt x="2060" y="3573"/>
                  </a:lnTo>
                  <a:cubicBezTo>
                    <a:pt x="2060" y="3477"/>
                    <a:pt x="1976" y="3406"/>
                    <a:pt x="1893" y="3406"/>
                  </a:cubicBezTo>
                  <a:cubicBezTo>
                    <a:pt x="1798" y="3406"/>
                    <a:pt x="1726" y="3477"/>
                    <a:pt x="1726" y="3573"/>
                  </a:cubicBezTo>
                  <a:lnTo>
                    <a:pt x="1726" y="4251"/>
                  </a:lnTo>
                  <a:cubicBezTo>
                    <a:pt x="1726" y="5025"/>
                    <a:pt x="2096" y="5716"/>
                    <a:pt x="2679" y="6156"/>
                  </a:cubicBezTo>
                  <a:cubicBezTo>
                    <a:pt x="2131" y="6037"/>
                    <a:pt x="1643" y="5906"/>
                    <a:pt x="1298" y="5787"/>
                  </a:cubicBezTo>
                  <a:cubicBezTo>
                    <a:pt x="1250" y="5775"/>
                    <a:pt x="1203" y="5740"/>
                    <a:pt x="1191" y="5692"/>
                  </a:cubicBezTo>
                  <a:cubicBezTo>
                    <a:pt x="1179" y="5656"/>
                    <a:pt x="1179" y="5609"/>
                    <a:pt x="1191" y="5561"/>
                  </a:cubicBezTo>
                  <a:cubicBezTo>
                    <a:pt x="1310" y="5263"/>
                    <a:pt x="1369" y="4882"/>
                    <a:pt x="1369" y="4442"/>
                  </a:cubicBezTo>
                  <a:lnTo>
                    <a:pt x="1369" y="3239"/>
                  </a:lnTo>
                  <a:cubicBezTo>
                    <a:pt x="1405" y="3239"/>
                    <a:pt x="1417" y="3227"/>
                    <a:pt x="1429" y="3227"/>
                  </a:cubicBezTo>
                  <a:cubicBezTo>
                    <a:pt x="1476" y="3216"/>
                    <a:pt x="2417" y="2942"/>
                    <a:pt x="3227" y="2275"/>
                  </a:cubicBezTo>
                  <a:cubicBezTo>
                    <a:pt x="3286" y="2221"/>
                    <a:pt x="3361" y="2195"/>
                    <a:pt x="3435" y="2195"/>
                  </a:cubicBezTo>
                  <a:cubicBezTo>
                    <a:pt x="3509" y="2195"/>
                    <a:pt x="3584" y="2221"/>
                    <a:pt x="3643" y="2275"/>
                  </a:cubicBezTo>
                  <a:cubicBezTo>
                    <a:pt x="3965" y="2513"/>
                    <a:pt x="4501" y="2858"/>
                    <a:pt x="5251" y="3132"/>
                  </a:cubicBezTo>
                  <a:cubicBezTo>
                    <a:pt x="5273" y="3141"/>
                    <a:pt x="5295" y="3144"/>
                    <a:pt x="5315" y="3144"/>
                  </a:cubicBezTo>
                  <a:cubicBezTo>
                    <a:pt x="5382" y="3144"/>
                    <a:pt x="5438" y="3104"/>
                    <a:pt x="5465" y="3049"/>
                  </a:cubicBezTo>
                  <a:cubicBezTo>
                    <a:pt x="5489" y="2954"/>
                    <a:pt x="5453" y="2870"/>
                    <a:pt x="5370" y="2835"/>
                  </a:cubicBezTo>
                  <a:cubicBezTo>
                    <a:pt x="4655" y="2573"/>
                    <a:pt x="4155" y="2239"/>
                    <a:pt x="3858" y="2025"/>
                  </a:cubicBezTo>
                  <a:cubicBezTo>
                    <a:pt x="3735" y="1931"/>
                    <a:pt x="3591" y="1883"/>
                    <a:pt x="3449" y="1883"/>
                  </a:cubicBezTo>
                  <a:cubicBezTo>
                    <a:pt x="3302" y="1883"/>
                    <a:pt x="3157" y="1934"/>
                    <a:pt x="3036" y="2037"/>
                  </a:cubicBezTo>
                  <a:cubicBezTo>
                    <a:pt x="2357" y="2584"/>
                    <a:pt x="1560" y="2870"/>
                    <a:pt x="1381" y="2918"/>
                  </a:cubicBezTo>
                  <a:cubicBezTo>
                    <a:pt x="1476" y="1465"/>
                    <a:pt x="2667" y="334"/>
                    <a:pt x="4120" y="334"/>
                  </a:cubicBezTo>
                  <a:close/>
                  <a:moveTo>
                    <a:pt x="4989" y="6466"/>
                  </a:moveTo>
                  <a:lnTo>
                    <a:pt x="4989" y="6823"/>
                  </a:lnTo>
                  <a:lnTo>
                    <a:pt x="4715" y="7871"/>
                  </a:lnTo>
                  <a:cubicBezTo>
                    <a:pt x="4536" y="7978"/>
                    <a:pt x="4334" y="8014"/>
                    <a:pt x="4120" y="8014"/>
                  </a:cubicBezTo>
                  <a:cubicBezTo>
                    <a:pt x="3917" y="8014"/>
                    <a:pt x="3703" y="7954"/>
                    <a:pt x="3524" y="7871"/>
                  </a:cubicBezTo>
                  <a:lnTo>
                    <a:pt x="3262" y="6823"/>
                  </a:lnTo>
                  <a:lnTo>
                    <a:pt x="3262" y="6466"/>
                  </a:lnTo>
                  <a:cubicBezTo>
                    <a:pt x="3524" y="6573"/>
                    <a:pt x="3822" y="6633"/>
                    <a:pt x="4120" y="6633"/>
                  </a:cubicBezTo>
                  <a:cubicBezTo>
                    <a:pt x="4417" y="6633"/>
                    <a:pt x="4715" y="6573"/>
                    <a:pt x="4989" y="6466"/>
                  </a:cubicBezTo>
                  <a:close/>
                  <a:moveTo>
                    <a:pt x="2619" y="9895"/>
                  </a:moveTo>
                  <a:lnTo>
                    <a:pt x="2619" y="10597"/>
                  </a:lnTo>
                  <a:lnTo>
                    <a:pt x="1226" y="10597"/>
                  </a:lnTo>
                  <a:lnTo>
                    <a:pt x="1226" y="9895"/>
                  </a:lnTo>
                  <a:lnTo>
                    <a:pt x="1762" y="9895"/>
                  </a:lnTo>
                  <a:lnTo>
                    <a:pt x="1762" y="9907"/>
                  </a:lnTo>
                  <a:cubicBezTo>
                    <a:pt x="1762" y="10002"/>
                    <a:pt x="1834" y="10074"/>
                    <a:pt x="1917" y="10074"/>
                  </a:cubicBezTo>
                  <a:cubicBezTo>
                    <a:pt x="2012" y="10074"/>
                    <a:pt x="2084" y="10002"/>
                    <a:pt x="2084" y="9907"/>
                  </a:cubicBezTo>
                  <a:lnTo>
                    <a:pt x="2084" y="9895"/>
                  </a:lnTo>
                  <a:close/>
                  <a:moveTo>
                    <a:pt x="4108" y="1"/>
                  </a:moveTo>
                  <a:cubicBezTo>
                    <a:pt x="2417" y="1"/>
                    <a:pt x="1048" y="1370"/>
                    <a:pt x="1048" y="3061"/>
                  </a:cubicBezTo>
                  <a:lnTo>
                    <a:pt x="1048" y="4430"/>
                  </a:lnTo>
                  <a:cubicBezTo>
                    <a:pt x="1048" y="4942"/>
                    <a:pt x="953" y="5251"/>
                    <a:pt x="881" y="5430"/>
                  </a:cubicBezTo>
                  <a:cubicBezTo>
                    <a:pt x="833" y="5561"/>
                    <a:pt x="833" y="5692"/>
                    <a:pt x="893" y="5811"/>
                  </a:cubicBezTo>
                  <a:cubicBezTo>
                    <a:pt x="953" y="5930"/>
                    <a:pt x="1060" y="6037"/>
                    <a:pt x="1191" y="6085"/>
                  </a:cubicBezTo>
                  <a:cubicBezTo>
                    <a:pt x="1607" y="6216"/>
                    <a:pt x="2238" y="6406"/>
                    <a:pt x="2917" y="6525"/>
                  </a:cubicBezTo>
                  <a:lnTo>
                    <a:pt x="2917" y="6752"/>
                  </a:lnTo>
                  <a:lnTo>
                    <a:pt x="2250" y="7061"/>
                  </a:lnTo>
                  <a:cubicBezTo>
                    <a:pt x="2143" y="7109"/>
                    <a:pt x="2060" y="7216"/>
                    <a:pt x="2024" y="7335"/>
                  </a:cubicBezTo>
                  <a:cubicBezTo>
                    <a:pt x="2012" y="7407"/>
                    <a:pt x="2012" y="7466"/>
                    <a:pt x="2024" y="7537"/>
                  </a:cubicBezTo>
                  <a:lnTo>
                    <a:pt x="786" y="7978"/>
                  </a:lnTo>
                  <a:cubicBezTo>
                    <a:pt x="310" y="8133"/>
                    <a:pt x="0" y="8585"/>
                    <a:pt x="0" y="9085"/>
                  </a:cubicBezTo>
                  <a:lnTo>
                    <a:pt x="0" y="10752"/>
                  </a:lnTo>
                  <a:cubicBezTo>
                    <a:pt x="0" y="10847"/>
                    <a:pt x="71" y="10919"/>
                    <a:pt x="167" y="10919"/>
                  </a:cubicBezTo>
                  <a:cubicBezTo>
                    <a:pt x="250" y="10919"/>
                    <a:pt x="333" y="10847"/>
                    <a:pt x="333" y="10752"/>
                  </a:cubicBezTo>
                  <a:lnTo>
                    <a:pt x="333" y="9085"/>
                  </a:lnTo>
                  <a:cubicBezTo>
                    <a:pt x="333" y="8716"/>
                    <a:pt x="572" y="8395"/>
                    <a:pt x="905" y="8276"/>
                  </a:cubicBezTo>
                  <a:lnTo>
                    <a:pt x="2203" y="7811"/>
                  </a:lnTo>
                  <a:lnTo>
                    <a:pt x="2369" y="8014"/>
                  </a:lnTo>
                  <a:lnTo>
                    <a:pt x="2191" y="8276"/>
                  </a:lnTo>
                  <a:cubicBezTo>
                    <a:pt x="2096" y="8419"/>
                    <a:pt x="2084" y="8597"/>
                    <a:pt x="2143" y="8764"/>
                  </a:cubicBezTo>
                  <a:lnTo>
                    <a:pt x="2512" y="9550"/>
                  </a:lnTo>
                  <a:lnTo>
                    <a:pt x="2024" y="9550"/>
                  </a:lnTo>
                  <a:lnTo>
                    <a:pt x="2024" y="9371"/>
                  </a:lnTo>
                  <a:cubicBezTo>
                    <a:pt x="2024" y="9276"/>
                    <a:pt x="1953" y="9204"/>
                    <a:pt x="1857" y="9204"/>
                  </a:cubicBezTo>
                  <a:cubicBezTo>
                    <a:pt x="1774" y="9204"/>
                    <a:pt x="1703" y="9276"/>
                    <a:pt x="1703" y="9371"/>
                  </a:cubicBezTo>
                  <a:lnTo>
                    <a:pt x="1703" y="9550"/>
                  </a:lnTo>
                  <a:lnTo>
                    <a:pt x="1000" y="9550"/>
                  </a:lnTo>
                  <a:cubicBezTo>
                    <a:pt x="905" y="9550"/>
                    <a:pt x="833" y="9621"/>
                    <a:pt x="833" y="9716"/>
                  </a:cubicBezTo>
                  <a:lnTo>
                    <a:pt x="833" y="10740"/>
                  </a:lnTo>
                  <a:cubicBezTo>
                    <a:pt x="833" y="10836"/>
                    <a:pt x="905" y="10907"/>
                    <a:pt x="1000" y="10907"/>
                  </a:cubicBezTo>
                  <a:lnTo>
                    <a:pt x="2715" y="10907"/>
                  </a:lnTo>
                  <a:cubicBezTo>
                    <a:pt x="2798" y="10907"/>
                    <a:pt x="2869" y="10836"/>
                    <a:pt x="2869" y="10740"/>
                  </a:cubicBezTo>
                  <a:lnTo>
                    <a:pt x="2869" y="10359"/>
                  </a:lnTo>
                  <a:lnTo>
                    <a:pt x="3084" y="10800"/>
                  </a:lnTo>
                  <a:cubicBezTo>
                    <a:pt x="3108" y="10859"/>
                    <a:pt x="3167" y="10895"/>
                    <a:pt x="3227" y="10895"/>
                  </a:cubicBezTo>
                  <a:cubicBezTo>
                    <a:pt x="3262" y="10895"/>
                    <a:pt x="3274" y="10895"/>
                    <a:pt x="3286" y="10871"/>
                  </a:cubicBezTo>
                  <a:cubicBezTo>
                    <a:pt x="3370" y="10847"/>
                    <a:pt x="3405" y="10740"/>
                    <a:pt x="3370" y="10669"/>
                  </a:cubicBezTo>
                  <a:lnTo>
                    <a:pt x="2417" y="8609"/>
                  </a:lnTo>
                  <a:cubicBezTo>
                    <a:pt x="2381" y="8550"/>
                    <a:pt x="2393" y="8490"/>
                    <a:pt x="2429" y="8430"/>
                  </a:cubicBezTo>
                  <a:lnTo>
                    <a:pt x="2667" y="8073"/>
                  </a:lnTo>
                  <a:cubicBezTo>
                    <a:pt x="2715" y="8014"/>
                    <a:pt x="2691" y="7942"/>
                    <a:pt x="2667" y="7895"/>
                  </a:cubicBezTo>
                  <a:lnTo>
                    <a:pt x="2334" y="7454"/>
                  </a:lnTo>
                  <a:cubicBezTo>
                    <a:pt x="2322" y="7418"/>
                    <a:pt x="2322" y="7395"/>
                    <a:pt x="2322" y="7383"/>
                  </a:cubicBezTo>
                  <a:cubicBezTo>
                    <a:pt x="2322" y="7359"/>
                    <a:pt x="2334" y="7335"/>
                    <a:pt x="2369" y="7323"/>
                  </a:cubicBezTo>
                  <a:lnTo>
                    <a:pt x="2953" y="7049"/>
                  </a:lnTo>
                  <a:lnTo>
                    <a:pt x="3286" y="8371"/>
                  </a:lnTo>
                  <a:cubicBezTo>
                    <a:pt x="3316" y="8450"/>
                    <a:pt x="3370" y="8496"/>
                    <a:pt x="3442" y="8496"/>
                  </a:cubicBezTo>
                  <a:cubicBezTo>
                    <a:pt x="3457" y="8496"/>
                    <a:pt x="3472" y="8494"/>
                    <a:pt x="3489" y="8490"/>
                  </a:cubicBezTo>
                  <a:cubicBezTo>
                    <a:pt x="3572" y="8466"/>
                    <a:pt x="3620" y="8383"/>
                    <a:pt x="3608" y="8299"/>
                  </a:cubicBezTo>
                  <a:lnTo>
                    <a:pt x="3584" y="8252"/>
                  </a:lnTo>
                  <a:lnTo>
                    <a:pt x="3584" y="8252"/>
                  </a:lnTo>
                  <a:cubicBezTo>
                    <a:pt x="3751" y="8311"/>
                    <a:pt x="3917" y="8335"/>
                    <a:pt x="4084" y="8335"/>
                  </a:cubicBezTo>
                  <a:cubicBezTo>
                    <a:pt x="4239" y="8335"/>
                    <a:pt x="4405" y="8299"/>
                    <a:pt x="4572" y="8252"/>
                  </a:cubicBezTo>
                  <a:lnTo>
                    <a:pt x="4572" y="8252"/>
                  </a:lnTo>
                  <a:lnTo>
                    <a:pt x="4084" y="10121"/>
                  </a:lnTo>
                  <a:lnTo>
                    <a:pt x="3786" y="9002"/>
                  </a:lnTo>
                  <a:cubicBezTo>
                    <a:pt x="3755" y="8918"/>
                    <a:pt x="3696" y="8881"/>
                    <a:pt x="3618" y="8881"/>
                  </a:cubicBezTo>
                  <a:cubicBezTo>
                    <a:pt x="3607" y="8881"/>
                    <a:pt x="3596" y="8881"/>
                    <a:pt x="3584" y="8883"/>
                  </a:cubicBezTo>
                  <a:cubicBezTo>
                    <a:pt x="3500" y="8907"/>
                    <a:pt x="3453" y="8990"/>
                    <a:pt x="3465" y="9073"/>
                  </a:cubicBezTo>
                  <a:lnTo>
                    <a:pt x="3917" y="10788"/>
                  </a:lnTo>
                  <a:cubicBezTo>
                    <a:pt x="3929" y="10859"/>
                    <a:pt x="4001" y="10907"/>
                    <a:pt x="4060" y="10907"/>
                  </a:cubicBezTo>
                  <a:cubicBezTo>
                    <a:pt x="4143" y="10907"/>
                    <a:pt x="4203" y="10859"/>
                    <a:pt x="4215" y="10788"/>
                  </a:cubicBezTo>
                  <a:lnTo>
                    <a:pt x="5191" y="7061"/>
                  </a:lnTo>
                  <a:lnTo>
                    <a:pt x="5775" y="7335"/>
                  </a:lnTo>
                  <a:cubicBezTo>
                    <a:pt x="5810" y="7347"/>
                    <a:pt x="5822" y="7383"/>
                    <a:pt x="5822" y="7395"/>
                  </a:cubicBezTo>
                  <a:cubicBezTo>
                    <a:pt x="5822" y="7407"/>
                    <a:pt x="5822" y="7430"/>
                    <a:pt x="5810" y="7466"/>
                  </a:cubicBezTo>
                  <a:lnTo>
                    <a:pt x="5477" y="7918"/>
                  </a:lnTo>
                  <a:cubicBezTo>
                    <a:pt x="5429" y="7978"/>
                    <a:pt x="5429" y="8049"/>
                    <a:pt x="5477" y="8097"/>
                  </a:cubicBezTo>
                  <a:lnTo>
                    <a:pt x="5715" y="8454"/>
                  </a:lnTo>
                  <a:cubicBezTo>
                    <a:pt x="5751" y="8514"/>
                    <a:pt x="5763" y="8573"/>
                    <a:pt x="5727" y="8633"/>
                  </a:cubicBezTo>
                  <a:lnTo>
                    <a:pt x="4774" y="10681"/>
                  </a:lnTo>
                  <a:cubicBezTo>
                    <a:pt x="4751" y="10752"/>
                    <a:pt x="4774" y="10859"/>
                    <a:pt x="4858" y="10895"/>
                  </a:cubicBezTo>
                  <a:cubicBezTo>
                    <a:pt x="4870" y="10907"/>
                    <a:pt x="4894" y="10907"/>
                    <a:pt x="4917" y="10907"/>
                  </a:cubicBezTo>
                  <a:cubicBezTo>
                    <a:pt x="4977" y="10907"/>
                    <a:pt x="5036" y="10871"/>
                    <a:pt x="5060" y="10812"/>
                  </a:cubicBezTo>
                  <a:lnTo>
                    <a:pt x="6013" y="8764"/>
                  </a:lnTo>
                  <a:cubicBezTo>
                    <a:pt x="6084" y="8597"/>
                    <a:pt x="6072" y="8419"/>
                    <a:pt x="5965" y="8276"/>
                  </a:cubicBezTo>
                  <a:lnTo>
                    <a:pt x="5786" y="8014"/>
                  </a:lnTo>
                  <a:lnTo>
                    <a:pt x="5953" y="7811"/>
                  </a:lnTo>
                  <a:lnTo>
                    <a:pt x="7251" y="8276"/>
                  </a:lnTo>
                  <a:cubicBezTo>
                    <a:pt x="7596" y="8395"/>
                    <a:pt x="7834" y="8716"/>
                    <a:pt x="7834" y="9085"/>
                  </a:cubicBezTo>
                  <a:lnTo>
                    <a:pt x="7834" y="10752"/>
                  </a:lnTo>
                  <a:cubicBezTo>
                    <a:pt x="7834" y="10847"/>
                    <a:pt x="7906" y="10919"/>
                    <a:pt x="7989" y="10919"/>
                  </a:cubicBezTo>
                  <a:cubicBezTo>
                    <a:pt x="8084" y="10919"/>
                    <a:pt x="8156" y="10847"/>
                    <a:pt x="8156" y="10752"/>
                  </a:cubicBezTo>
                  <a:lnTo>
                    <a:pt x="8156" y="9085"/>
                  </a:lnTo>
                  <a:cubicBezTo>
                    <a:pt x="8215" y="8585"/>
                    <a:pt x="7906" y="8133"/>
                    <a:pt x="7430" y="7978"/>
                  </a:cubicBezTo>
                  <a:lnTo>
                    <a:pt x="6191" y="7537"/>
                  </a:lnTo>
                  <a:cubicBezTo>
                    <a:pt x="6203" y="7478"/>
                    <a:pt x="6203" y="7407"/>
                    <a:pt x="6191" y="7335"/>
                  </a:cubicBezTo>
                  <a:cubicBezTo>
                    <a:pt x="6167" y="7216"/>
                    <a:pt x="6084" y="7121"/>
                    <a:pt x="5965" y="7061"/>
                  </a:cubicBezTo>
                  <a:lnTo>
                    <a:pt x="5298" y="6752"/>
                  </a:lnTo>
                  <a:lnTo>
                    <a:pt x="5298" y="6525"/>
                  </a:lnTo>
                  <a:cubicBezTo>
                    <a:pt x="5989" y="6406"/>
                    <a:pt x="6608" y="6228"/>
                    <a:pt x="7025" y="6085"/>
                  </a:cubicBezTo>
                  <a:cubicBezTo>
                    <a:pt x="7156" y="6037"/>
                    <a:pt x="7263" y="5954"/>
                    <a:pt x="7322" y="5811"/>
                  </a:cubicBezTo>
                  <a:cubicBezTo>
                    <a:pt x="7382" y="5692"/>
                    <a:pt x="7382" y="5549"/>
                    <a:pt x="7334" y="5430"/>
                  </a:cubicBezTo>
                  <a:cubicBezTo>
                    <a:pt x="7263" y="5251"/>
                    <a:pt x="7180" y="4918"/>
                    <a:pt x="7180" y="4430"/>
                  </a:cubicBezTo>
                  <a:lnTo>
                    <a:pt x="7180" y="3061"/>
                  </a:lnTo>
                  <a:cubicBezTo>
                    <a:pt x="7180" y="1370"/>
                    <a:pt x="5810" y="1"/>
                    <a:pt x="4108"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9811;p64"/>
            <p:cNvSpPr/>
            <p:nvPr/>
          </p:nvSpPr>
          <p:spPr>
            <a:xfrm>
              <a:off x="7686319" y="4368743"/>
              <a:ext cx="21131" cy="10581"/>
            </a:xfrm>
            <a:custGeom>
              <a:avLst/>
              <a:gdLst/>
              <a:ahLst/>
              <a:cxnLst/>
              <a:rect l="l" t="t" r="r" b="b"/>
              <a:pathLst>
                <a:path w="667" h="334" extrusionOk="0">
                  <a:moveTo>
                    <a:pt x="155" y="0"/>
                  </a:moveTo>
                  <a:cubicBezTo>
                    <a:pt x="72" y="0"/>
                    <a:pt x="0" y="72"/>
                    <a:pt x="0" y="167"/>
                  </a:cubicBezTo>
                  <a:cubicBezTo>
                    <a:pt x="0" y="250"/>
                    <a:pt x="72" y="334"/>
                    <a:pt x="155" y="334"/>
                  </a:cubicBezTo>
                  <a:lnTo>
                    <a:pt x="500" y="334"/>
                  </a:lnTo>
                  <a:cubicBezTo>
                    <a:pt x="596" y="334"/>
                    <a:pt x="667" y="250"/>
                    <a:pt x="667" y="167"/>
                  </a:cubicBezTo>
                  <a:cubicBezTo>
                    <a:pt x="667" y="72"/>
                    <a:pt x="596" y="0"/>
                    <a:pt x="500"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9812;p64"/>
            <p:cNvSpPr/>
            <p:nvPr/>
          </p:nvSpPr>
          <p:spPr>
            <a:xfrm>
              <a:off x="7751199" y="4368743"/>
              <a:ext cx="21131" cy="10581"/>
            </a:xfrm>
            <a:custGeom>
              <a:avLst/>
              <a:gdLst/>
              <a:ahLst/>
              <a:cxnLst/>
              <a:rect l="l" t="t" r="r" b="b"/>
              <a:pathLst>
                <a:path w="667" h="334" extrusionOk="0">
                  <a:moveTo>
                    <a:pt x="167" y="0"/>
                  </a:moveTo>
                  <a:cubicBezTo>
                    <a:pt x="72" y="0"/>
                    <a:pt x="0" y="72"/>
                    <a:pt x="0" y="167"/>
                  </a:cubicBezTo>
                  <a:cubicBezTo>
                    <a:pt x="0" y="250"/>
                    <a:pt x="72" y="334"/>
                    <a:pt x="167" y="334"/>
                  </a:cubicBezTo>
                  <a:lnTo>
                    <a:pt x="512" y="334"/>
                  </a:lnTo>
                  <a:cubicBezTo>
                    <a:pt x="595" y="334"/>
                    <a:pt x="667" y="250"/>
                    <a:pt x="667" y="167"/>
                  </a:cubicBezTo>
                  <a:cubicBezTo>
                    <a:pt x="667" y="72"/>
                    <a:pt x="595" y="0"/>
                    <a:pt x="512"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9813;p64"/>
            <p:cNvSpPr/>
            <p:nvPr/>
          </p:nvSpPr>
          <p:spPr>
            <a:xfrm>
              <a:off x="7794189" y="4558474"/>
              <a:ext cx="37731" cy="37731"/>
            </a:xfrm>
            <a:custGeom>
              <a:avLst/>
              <a:gdLst/>
              <a:ahLst/>
              <a:cxnLst/>
              <a:rect l="l" t="t" r="r" b="b"/>
              <a:pathLst>
                <a:path w="1191" h="1191" extrusionOk="0">
                  <a:moveTo>
                    <a:pt x="596" y="0"/>
                  </a:moveTo>
                  <a:cubicBezTo>
                    <a:pt x="500" y="0"/>
                    <a:pt x="429" y="72"/>
                    <a:pt x="429" y="155"/>
                  </a:cubicBezTo>
                  <a:lnTo>
                    <a:pt x="429" y="429"/>
                  </a:lnTo>
                  <a:lnTo>
                    <a:pt x="167" y="429"/>
                  </a:lnTo>
                  <a:cubicBezTo>
                    <a:pt x="72" y="429"/>
                    <a:pt x="0" y="500"/>
                    <a:pt x="0" y="595"/>
                  </a:cubicBezTo>
                  <a:cubicBezTo>
                    <a:pt x="0" y="679"/>
                    <a:pt x="72" y="750"/>
                    <a:pt x="167" y="750"/>
                  </a:cubicBezTo>
                  <a:lnTo>
                    <a:pt x="429" y="750"/>
                  </a:lnTo>
                  <a:lnTo>
                    <a:pt x="429" y="1024"/>
                  </a:lnTo>
                  <a:cubicBezTo>
                    <a:pt x="429" y="1107"/>
                    <a:pt x="500" y="1191"/>
                    <a:pt x="596" y="1191"/>
                  </a:cubicBezTo>
                  <a:cubicBezTo>
                    <a:pt x="679" y="1191"/>
                    <a:pt x="762" y="1107"/>
                    <a:pt x="762" y="1024"/>
                  </a:cubicBezTo>
                  <a:lnTo>
                    <a:pt x="762" y="750"/>
                  </a:lnTo>
                  <a:lnTo>
                    <a:pt x="1024" y="750"/>
                  </a:lnTo>
                  <a:cubicBezTo>
                    <a:pt x="1120" y="750"/>
                    <a:pt x="1191" y="679"/>
                    <a:pt x="1191" y="595"/>
                  </a:cubicBezTo>
                  <a:cubicBezTo>
                    <a:pt x="1191" y="500"/>
                    <a:pt x="1120" y="429"/>
                    <a:pt x="1024" y="429"/>
                  </a:cubicBezTo>
                  <a:lnTo>
                    <a:pt x="762" y="429"/>
                  </a:lnTo>
                  <a:lnTo>
                    <a:pt x="762" y="155"/>
                  </a:lnTo>
                  <a:cubicBezTo>
                    <a:pt x="762" y="72"/>
                    <a:pt x="679" y="0"/>
                    <a:pt x="596"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9814;p64"/>
            <p:cNvSpPr/>
            <p:nvPr/>
          </p:nvSpPr>
          <p:spPr>
            <a:xfrm>
              <a:off x="7691197" y="4385343"/>
              <a:ext cx="10613" cy="15492"/>
            </a:xfrm>
            <a:custGeom>
              <a:avLst/>
              <a:gdLst/>
              <a:ahLst/>
              <a:cxnLst/>
              <a:rect l="l" t="t" r="r" b="b"/>
              <a:pathLst>
                <a:path w="335" h="489" extrusionOk="0">
                  <a:moveTo>
                    <a:pt x="168" y="0"/>
                  </a:moveTo>
                  <a:cubicBezTo>
                    <a:pt x="84" y="0"/>
                    <a:pt x="1" y="72"/>
                    <a:pt x="1" y="167"/>
                  </a:cubicBezTo>
                  <a:lnTo>
                    <a:pt x="1" y="322"/>
                  </a:lnTo>
                  <a:cubicBezTo>
                    <a:pt x="1" y="417"/>
                    <a:pt x="84" y="488"/>
                    <a:pt x="168" y="488"/>
                  </a:cubicBezTo>
                  <a:cubicBezTo>
                    <a:pt x="263" y="488"/>
                    <a:pt x="334" y="417"/>
                    <a:pt x="334" y="322"/>
                  </a:cubicBezTo>
                  <a:lnTo>
                    <a:pt x="334" y="167"/>
                  </a:lnTo>
                  <a:cubicBezTo>
                    <a:pt x="334" y="72"/>
                    <a:pt x="263"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9815;p64"/>
            <p:cNvSpPr/>
            <p:nvPr/>
          </p:nvSpPr>
          <p:spPr>
            <a:xfrm>
              <a:off x="7756458" y="4385343"/>
              <a:ext cx="10233" cy="15492"/>
            </a:xfrm>
            <a:custGeom>
              <a:avLst/>
              <a:gdLst/>
              <a:ahLst/>
              <a:cxnLst/>
              <a:rect l="l" t="t" r="r" b="b"/>
              <a:pathLst>
                <a:path w="323" h="489" extrusionOk="0">
                  <a:moveTo>
                    <a:pt x="167" y="0"/>
                  </a:moveTo>
                  <a:cubicBezTo>
                    <a:pt x="72" y="0"/>
                    <a:pt x="1" y="72"/>
                    <a:pt x="1" y="167"/>
                  </a:cubicBezTo>
                  <a:lnTo>
                    <a:pt x="1" y="322"/>
                  </a:lnTo>
                  <a:cubicBezTo>
                    <a:pt x="1" y="417"/>
                    <a:pt x="72" y="488"/>
                    <a:pt x="167" y="488"/>
                  </a:cubicBezTo>
                  <a:cubicBezTo>
                    <a:pt x="251" y="488"/>
                    <a:pt x="322" y="417"/>
                    <a:pt x="322" y="322"/>
                  </a:cubicBezTo>
                  <a:lnTo>
                    <a:pt x="322" y="167"/>
                  </a:lnTo>
                  <a:cubicBezTo>
                    <a:pt x="322" y="72"/>
                    <a:pt x="251"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9816;p64"/>
            <p:cNvSpPr/>
            <p:nvPr/>
          </p:nvSpPr>
          <p:spPr>
            <a:xfrm>
              <a:off x="7699878" y="4415122"/>
              <a:ext cx="58893" cy="32092"/>
            </a:xfrm>
            <a:custGeom>
              <a:avLst/>
              <a:gdLst/>
              <a:ahLst/>
              <a:cxnLst/>
              <a:rect l="l" t="t" r="r" b="b"/>
              <a:pathLst>
                <a:path w="1859" h="1013" extrusionOk="0">
                  <a:moveTo>
                    <a:pt x="1501" y="322"/>
                  </a:moveTo>
                  <a:cubicBezTo>
                    <a:pt x="1430" y="537"/>
                    <a:pt x="1191" y="679"/>
                    <a:pt x="918" y="679"/>
                  </a:cubicBezTo>
                  <a:cubicBezTo>
                    <a:pt x="656" y="679"/>
                    <a:pt x="418" y="537"/>
                    <a:pt x="346" y="322"/>
                  </a:cubicBezTo>
                  <a:close/>
                  <a:moveTo>
                    <a:pt x="168" y="1"/>
                  </a:moveTo>
                  <a:cubicBezTo>
                    <a:pt x="72" y="1"/>
                    <a:pt x="1" y="72"/>
                    <a:pt x="1" y="156"/>
                  </a:cubicBezTo>
                  <a:cubicBezTo>
                    <a:pt x="1" y="620"/>
                    <a:pt x="418" y="1013"/>
                    <a:pt x="918" y="1013"/>
                  </a:cubicBezTo>
                  <a:cubicBezTo>
                    <a:pt x="1430" y="1013"/>
                    <a:pt x="1846" y="632"/>
                    <a:pt x="1846" y="156"/>
                  </a:cubicBezTo>
                  <a:cubicBezTo>
                    <a:pt x="1858" y="72"/>
                    <a:pt x="1787" y="1"/>
                    <a:pt x="1692"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0" name="Google Shape;8349;p61"/>
          <p:cNvGrpSpPr/>
          <p:nvPr/>
        </p:nvGrpSpPr>
        <p:grpSpPr>
          <a:xfrm>
            <a:off x="13701193" y="2711446"/>
            <a:ext cx="1905000" cy="1069724"/>
            <a:chOff x="6849393" y="3733994"/>
            <a:chExt cx="355053" cy="248038"/>
          </a:xfrm>
          <a:solidFill>
            <a:schemeClr val="accent4">
              <a:lumMod val="75000"/>
            </a:schemeClr>
          </a:solidFill>
        </p:grpSpPr>
        <p:sp>
          <p:nvSpPr>
            <p:cNvPr id="111" name="Google Shape;8350;p61"/>
            <p:cNvSpPr/>
            <p:nvPr/>
          </p:nvSpPr>
          <p:spPr>
            <a:xfrm>
              <a:off x="6849393" y="3733994"/>
              <a:ext cx="355053" cy="248038"/>
            </a:xfrm>
            <a:custGeom>
              <a:avLst/>
              <a:gdLst/>
              <a:ahLst/>
              <a:cxnLst/>
              <a:rect l="l" t="t" r="r" b="b"/>
              <a:pathLst>
                <a:path w="11181" h="7811" extrusionOk="0">
                  <a:moveTo>
                    <a:pt x="10800" y="357"/>
                  </a:moveTo>
                  <a:cubicBezTo>
                    <a:pt x="10800" y="357"/>
                    <a:pt x="10823" y="357"/>
                    <a:pt x="10823" y="369"/>
                  </a:cubicBezTo>
                  <a:lnTo>
                    <a:pt x="10823" y="5227"/>
                  </a:lnTo>
                  <a:lnTo>
                    <a:pt x="346" y="5239"/>
                  </a:lnTo>
                  <a:cubicBezTo>
                    <a:pt x="346" y="5239"/>
                    <a:pt x="334" y="5239"/>
                    <a:pt x="334" y="5227"/>
                  </a:cubicBezTo>
                  <a:lnTo>
                    <a:pt x="334" y="369"/>
                  </a:lnTo>
                  <a:cubicBezTo>
                    <a:pt x="334" y="369"/>
                    <a:pt x="334" y="357"/>
                    <a:pt x="346" y="357"/>
                  </a:cubicBezTo>
                  <a:close/>
                  <a:moveTo>
                    <a:pt x="10835" y="5572"/>
                  </a:moveTo>
                  <a:lnTo>
                    <a:pt x="10823" y="5977"/>
                  </a:lnTo>
                  <a:lnTo>
                    <a:pt x="10252" y="5977"/>
                  </a:lnTo>
                  <a:cubicBezTo>
                    <a:pt x="10169" y="5977"/>
                    <a:pt x="10073" y="6060"/>
                    <a:pt x="10073" y="6156"/>
                  </a:cubicBezTo>
                  <a:cubicBezTo>
                    <a:pt x="10073" y="6263"/>
                    <a:pt x="10157" y="6334"/>
                    <a:pt x="10252" y="6334"/>
                  </a:cubicBezTo>
                  <a:lnTo>
                    <a:pt x="10823" y="6334"/>
                  </a:lnTo>
                  <a:lnTo>
                    <a:pt x="10823" y="6739"/>
                  </a:lnTo>
                  <a:lnTo>
                    <a:pt x="8014" y="6739"/>
                  </a:lnTo>
                  <a:cubicBezTo>
                    <a:pt x="7918" y="6739"/>
                    <a:pt x="7823" y="6811"/>
                    <a:pt x="7823" y="6918"/>
                  </a:cubicBezTo>
                  <a:cubicBezTo>
                    <a:pt x="7823" y="7013"/>
                    <a:pt x="7906" y="7096"/>
                    <a:pt x="8014" y="7096"/>
                  </a:cubicBezTo>
                  <a:lnTo>
                    <a:pt x="10823" y="7096"/>
                  </a:lnTo>
                  <a:lnTo>
                    <a:pt x="10823" y="7489"/>
                  </a:lnTo>
                  <a:cubicBezTo>
                    <a:pt x="10823" y="7489"/>
                    <a:pt x="10823" y="7501"/>
                    <a:pt x="10812" y="7501"/>
                  </a:cubicBezTo>
                  <a:lnTo>
                    <a:pt x="358" y="7501"/>
                  </a:lnTo>
                  <a:cubicBezTo>
                    <a:pt x="358" y="7501"/>
                    <a:pt x="346" y="7501"/>
                    <a:pt x="346" y="7489"/>
                  </a:cubicBezTo>
                  <a:lnTo>
                    <a:pt x="346" y="7096"/>
                  </a:lnTo>
                  <a:lnTo>
                    <a:pt x="7263" y="7096"/>
                  </a:lnTo>
                  <a:cubicBezTo>
                    <a:pt x="7359" y="7096"/>
                    <a:pt x="7442" y="7025"/>
                    <a:pt x="7442" y="6918"/>
                  </a:cubicBezTo>
                  <a:cubicBezTo>
                    <a:pt x="7442" y="6834"/>
                    <a:pt x="7371" y="6739"/>
                    <a:pt x="7263" y="6739"/>
                  </a:cubicBezTo>
                  <a:lnTo>
                    <a:pt x="346" y="6739"/>
                  </a:lnTo>
                  <a:lnTo>
                    <a:pt x="346" y="6334"/>
                  </a:lnTo>
                  <a:lnTo>
                    <a:pt x="9514" y="6334"/>
                  </a:lnTo>
                  <a:cubicBezTo>
                    <a:pt x="9597" y="6334"/>
                    <a:pt x="9692" y="6263"/>
                    <a:pt x="9692" y="6156"/>
                  </a:cubicBezTo>
                  <a:cubicBezTo>
                    <a:pt x="9692" y="6072"/>
                    <a:pt x="9621" y="5977"/>
                    <a:pt x="9514" y="5977"/>
                  </a:cubicBezTo>
                  <a:lnTo>
                    <a:pt x="346" y="5977"/>
                  </a:lnTo>
                  <a:lnTo>
                    <a:pt x="346" y="5572"/>
                  </a:lnTo>
                  <a:close/>
                  <a:moveTo>
                    <a:pt x="358" y="0"/>
                  </a:moveTo>
                  <a:cubicBezTo>
                    <a:pt x="167" y="0"/>
                    <a:pt x="1" y="167"/>
                    <a:pt x="1" y="357"/>
                  </a:cubicBezTo>
                  <a:lnTo>
                    <a:pt x="1" y="7453"/>
                  </a:lnTo>
                  <a:cubicBezTo>
                    <a:pt x="1" y="7644"/>
                    <a:pt x="167" y="7811"/>
                    <a:pt x="358" y="7811"/>
                  </a:cubicBezTo>
                  <a:lnTo>
                    <a:pt x="10823" y="7811"/>
                  </a:lnTo>
                  <a:cubicBezTo>
                    <a:pt x="11014" y="7811"/>
                    <a:pt x="11181" y="7644"/>
                    <a:pt x="11181" y="7453"/>
                  </a:cubicBezTo>
                  <a:lnTo>
                    <a:pt x="11181" y="357"/>
                  </a:lnTo>
                  <a:cubicBezTo>
                    <a:pt x="11181" y="167"/>
                    <a:pt x="11014" y="0"/>
                    <a:pt x="1082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8351;p61"/>
            <p:cNvSpPr/>
            <p:nvPr/>
          </p:nvSpPr>
          <p:spPr>
            <a:xfrm>
              <a:off x="7080411" y="3758192"/>
              <a:ext cx="100219" cy="129687"/>
            </a:xfrm>
            <a:custGeom>
              <a:avLst/>
              <a:gdLst/>
              <a:ahLst/>
              <a:cxnLst/>
              <a:rect l="l" t="t" r="r" b="b"/>
              <a:pathLst>
                <a:path w="3156" h="4084" extrusionOk="0">
                  <a:moveTo>
                    <a:pt x="179" y="0"/>
                  </a:moveTo>
                  <a:cubicBezTo>
                    <a:pt x="96" y="0"/>
                    <a:pt x="0" y="72"/>
                    <a:pt x="0" y="179"/>
                  </a:cubicBezTo>
                  <a:cubicBezTo>
                    <a:pt x="0" y="274"/>
                    <a:pt x="84" y="357"/>
                    <a:pt x="179" y="357"/>
                  </a:cubicBezTo>
                  <a:lnTo>
                    <a:pt x="2072" y="357"/>
                  </a:lnTo>
                  <a:cubicBezTo>
                    <a:pt x="2144" y="726"/>
                    <a:pt x="2429" y="1012"/>
                    <a:pt x="2798" y="1084"/>
                  </a:cubicBezTo>
                  <a:lnTo>
                    <a:pt x="2798" y="3001"/>
                  </a:lnTo>
                  <a:cubicBezTo>
                    <a:pt x="2429" y="3072"/>
                    <a:pt x="2144" y="3358"/>
                    <a:pt x="2072" y="3727"/>
                  </a:cubicBezTo>
                  <a:lnTo>
                    <a:pt x="179" y="3727"/>
                  </a:lnTo>
                  <a:cubicBezTo>
                    <a:pt x="96" y="3727"/>
                    <a:pt x="0" y="3810"/>
                    <a:pt x="0" y="3905"/>
                  </a:cubicBezTo>
                  <a:cubicBezTo>
                    <a:pt x="0" y="4013"/>
                    <a:pt x="84" y="4084"/>
                    <a:pt x="179" y="4084"/>
                  </a:cubicBezTo>
                  <a:lnTo>
                    <a:pt x="2239" y="4084"/>
                  </a:lnTo>
                  <a:cubicBezTo>
                    <a:pt x="2322" y="4084"/>
                    <a:pt x="2417" y="4013"/>
                    <a:pt x="2417" y="3905"/>
                  </a:cubicBezTo>
                  <a:cubicBezTo>
                    <a:pt x="2417" y="3596"/>
                    <a:pt x="2667" y="3346"/>
                    <a:pt x="2977" y="3346"/>
                  </a:cubicBezTo>
                  <a:cubicBezTo>
                    <a:pt x="3072" y="3346"/>
                    <a:pt x="3156" y="3274"/>
                    <a:pt x="3156" y="3167"/>
                  </a:cubicBezTo>
                  <a:lnTo>
                    <a:pt x="3156" y="917"/>
                  </a:lnTo>
                  <a:cubicBezTo>
                    <a:pt x="3156" y="810"/>
                    <a:pt x="3072" y="738"/>
                    <a:pt x="2977" y="738"/>
                  </a:cubicBezTo>
                  <a:cubicBezTo>
                    <a:pt x="2667" y="738"/>
                    <a:pt x="2417" y="488"/>
                    <a:pt x="2417" y="179"/>
                  </a:cubicBezTo>
                  <a:cubicBezTo>
                    <a:pt x="2417" y="83"/>
                    <a:pt x="2346" y="0"/>
                    <a:pt x="2239"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8352;p61"/>
            <p:cNvSpPr/>
            <p:nvPr/>
          </p:nvSpPr>
          <p:spPr>
            <a:xfrm>
              <a:off x="6873209" y="3757811"/>
              <a:ext cx="100219" cy="130068"/>
            </a:xfrm>
            <a:custGeom>
              <a:avLst/>
              <a:gdLst/>
              <a:ahLst/>
              <a:cxnLst/>
              <a:rect l="l" t="t" r="r" b="b"/>
              <a:pathLst>
                <a:path w="3156" h="4096" extrusionOk="0">
                  <a:moveTo>
                    <a:pt x="918" y="0"/>
                  </a:moveTo>
                  <a:cubicBezTo>
                    <a:pt x="834" y="0"/>
                    <a:pt x="739" y="84"/>
                    <a:pt x="739" y="191"/>
                  </a:cubicBezTo>
                  <a:cubicBezTo>
                    <a:pt x="739" y="500"/>
                    <a:pt x="489" y="750"/>
                    <a:pt x="179" y="750"/>
                  </a:cubicBezTo>
                  <a:cubicBezTo>
                    <a:pt x="84" y="750"/>
                    <a:pt x="1" y="822"/>
                    <a:pt x="1" y="929"/>
                  </a:cubicBezTo>
                  <a:lnTo>
                    <a:pt x="1" y="3179"/>
                  </a:lnTo>
                  <a:cubicBezTo>
                    <a:pt x="1" y="3263"/>
                    <a:pt x="72" y="3358"/>
                    <a:pt x="179" y="3358"/>
                  </a:cubicBezTo>
                  <a:cubicBezTo>
                    <a:pt x="489" y="3358"/>
                    <a:pt x="739" y="3608"/>
                    <a:pt x="739" y="3917"/>
                  </a:cubicBezTo>
                  <a:cubicBezTo>
                    <a:pt x="739" y="4013"/>
                    <a:pt x="810" y="4096"/>
                    <a:pt x="918" y="4096"/>
                  </a:cubicBezTo>
                  <a:lnTo>
                    <a:pt x="2977" y="4096"/>
                  </a:lnTo>
                  <a:cubicBezTo>
                    <a:pt x="3061" y="4096"/>
                    <a:pt x="3156" y="4025"/>
                    <a:pt x="3156" y="3917"/>
                  </a:cubicBezTo>
                  <a:cubicBezTo>
                    <a:pt x="3132" y="3822"/>
                    <a:pt x="3061" y="3739"/>
                    <a:pt x="2977" y="3739"/>
                  </a:cubicBezTo>
                  <a:lnTo>
                    <a:pt x="1084" y="3739"/>
                  </a:lnTo>
                  <a:cubicBezTo>
                    <a:pt x="1013" y="3370"/>
                    <a:pt x="727" y="3084"/>
                    <a:pt x="346" y="3013"/>
                  </a:cubicBezTo>
                  <a:lnTo>
                    <a:pt x="346" y="1096"/>
                  </a:lnTo>
                  <a:cubicBezTo>
                    <a:pt x="727" y="1024"/>
                    <a:pt x="1013" y="738"/>
                    <a:pt x="1084" y="369"/>
                  </a:cubicBezTo>
                  <a:lnTo>
                    <a:pt x="2977" y="369"/>
                  </a:lnTo>
                  <a:cubicBezTo>
                    <a:pt x="3061" y="369"/>
                    <a:pt x="3156" y="286"/>
                    <a:pt x="3156" y="191"/>
                  </a:cubicBezTo>
                  <a:cubicBezTo>
                    <a:pt x="3156" y="95"/>
                    <a:pt x="3073" y="0"/>
                    <a:pt x="297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8353;p61"/>
            <p:cNvSpPr/>
            <p:nvPr/>
          </p:nvSpPr>
          <p:spPr>
            <a:xfrm>
              <a:off x="6962060" y="3758192"/>
              <a:ext cx="129338" cy="129338"/>
            </a:xfrm>
            <a:custGeom>
              <a:avLst/>
              <a:gdLst/>
              <a:ahLst/>
              <a:cxnLst/>
              <a:rect l="l" t="t" r="r" b="b"/>
              <a:pathLst>
                <a:path w="4073" h="4073" extrusionOk="0">
                  <a:moveTo>
                    <a:pt x="2037" y="334"/>
                  </a:moveTo>
                  <a:cubicBezTo>
                    <a:pt x="2977" y="334"/>
                    <a:pt x="3727" y="1096"/>
                    <a:pt x="3727" y="2036"/>
                  </a:cubicBezTo>
                  <a:cubicBezTo>
                    <a:pt x="3727" y="2977"/>
                    <a:pt x="2977" y="3727"/>
                    <a:pt x="2037" y="3727"/>
                  </a:cubicBezTo>
                  <a:cubicBezTo>
                    <a:pt x="1096" y="3727"/>
                    <a:pt x="334" y="2977"/>
                    <a:pt x="334" y="2036"/>
                  </a:cubicBezTo>
                  <a:cubicBezTo>
                    <a:pt x="334" y="1096"/>
                    <a:pt x="1096" y="334"/>
                    <a:pt x="2037" y="334"/>
                  </a:cubicBezTo>
                  <a:close/>
                  <a:moveTo>
                    <a:pt x="2037" y="0"/>
                  </a:moveTo>
                  <a:cubicBezTo>
                    <a:pt x="906" y="0"/>
                    <a:pt x="1" y="917"/>
                    <a:pt x="1" y="2036"/>
                  </a:cubicBezTo>
                  <a:cubicBezTo>
                    <a:pt x="1" y="3155"/>
                    <a:pt x="918" y="4072"/>
                    <a:pt x="2037" y="4072"/>
                  </a:cubicBezTo>
                  <a:cubicBezTo>
                    <a:pt x="3156" y="4072"/>
                    <a:pt x="4073" y="3155"/>
                    <a:pt x="4073" y="2036"/>
                  </a:cubicBezTo>
                  <a:cubicBezTo>
                    <a:pt x="4073" y="905"/>
                    <a:pt x="3168" y="0"/>
                    <a:pt x="203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8354;p61"/>
            <p:cNvSpPr/>
            <p:nvPr/>
          </p:nvSpPr>
          <p:spPr>
            <a:xfrm>
              <a:off x="6997244" y="3781627"/>
              <a:ext cx="59382" cy="82436"/>
            </a:xfrm>
            <a:custGeom>
              <a:avLst/>
              <a:gdLst/>
              <a:ahLst/>
              <a:cxnLst/>
              <a:rect l="l" t="t" r="r" b="b"/>
              <a:pathLst>
                <a:path w="1870" h="2596" extrusionOk="0">
                  <a:moveTo>
                    <a:pt x="750" y="536"/>
                  </a:moveTo>
                  <a:lnTo>
                    <a:pt x="750" y="1060"/>
                  </a:lnTo>
                  <a:cubicBezTo>
                    <a:pt x="452" y="965"/>
                    <a:pt x="345" y="881"/>
                    <a:pt x="345" y="762"/>
                  </a:cubicBezTo>
                  <a:cubicBezTo>
                    <a:pt x="345" y="691"/>
                    <a:pt x="500" y="584"/>
                    <a:pt x="750" y="536"/>
                  </a:cubicBezTo>
                  <a:close/>
                  <a:moveTo>
                    <a:pt x="1107" y="1524"/>
                  </a:moveTo>
                  <a:cubicBezTo>
                    <a:pt x="1405" y="1608"/>
                    <a:pt x="1512" y="1703"/>
                    <a:pt x="1512" y="1822"/>
                  </a:cubicBezTo>
                  <a:cubicBezTo>
                    <a:pt x="1512" y="1893"/>
                    <a:pt x="1357" y="2001"/>
                    <a:pt x="1107" y="2036"/>
                  </a:cubicBezTo>
                  <a:lnTo>
                    <a:pt x="1107" y="1524"/>
                  </a:lnTo>
                  <a:close/>
                  <a:moveTo>
                    <a:pt x="941" y="0"/>
                  </a:moveTo>
                  <a:cubicBezTo>
                    <a:pt x="857" y="0"/>
                    <a:pt x="762" y="72"/>
                    <a:pt x="762" y="179"/>
                  </a:cubicBezTo>
                  <a:lnTo>
                    <a:pt x="762" y="191"/>
                  </a:lnTo>
                  <a:cubicBezTo>
                    <a:pt x="333" y="238"/>
                    <a:pt x="24" y="477"/>
                    <a:pt x="24" y="774"/>
                  </a:cubicBezTo>
                  <a:cubicBezTo>
                    <a:pt x="24" y="1191"/>
                    <a:pt x="441" y="1346"/>
                    <a:pt x="762" y="1429"/>
                  </a:cubicBezTo>
                  <a:lnTo>
                    <a:pt x="762" y="2036"/>
                  </a:lnTo>
                  <a:cubicBezTo>
                    <a:pt x="512" y="2001"/>
                    <a:pt x="357" y="1893"/>
                    <a:pt x="357" y="1822"/>
                  </a:cubicBezTo>
                  <a:cubicBezTo>
                    <a:pt x="357" y="1727"/>
                    <a:pt x="286" y="1643"/>
                    <a:pt x="179" y="1643"/>
                  </a:cubicBezTo>
                  <a:cubicBezTo>
                    <a:pt x="83" y="1643"/>
                    <a:pt x="0" y="1715"/>
                    <a:pt x="0" y="1822"/>
                  </a:cubicBezTo>
                  <a:cubicBezTo>
                    <a:pt x="0" y="2120"/>
                    <a:pt x="310" y="2334"/>
                    <a:pt x="750" y="2393"/>
                  </a:cubicBezTo>
                  <a:lnTo>
                    <a:pt x="750" y="2417"/>
                  </a:lnTo>
                  <a:cubicBezTo>
                    <a:pt x="750" y="2501"/>
                    <a:pt x="822" y="2596"/>
                    <a:pt x="929" y="2596"/>
                  </a:cubicBezTo>
                  <a:cubicBezTo>
                    <a:pt x="1036" y="2596"/>
                    <a:pt x="1107" y="2513"/>
                    <a:pt x="1107" y="2417"/>
                  </a:cubicBezTo>
                  <a:lnTo>
                    <a:pt x="1107" y="2393"/>
                  </a:lnTo>
                  <a:cubicBezTo>
                    <a:pt x="1536" y="2358"/>
                    <a:pt x="1845" y="2120"/>
                    <a:pt x="1845" y="1822"/>
                  </a:cubicBezTo>
                  <a:cubicBezTo>
                    <a:pt x="1845" y="1417"/>
                    <a:pt x="1453" y="1250"/>
                    <a:pt x="1107" y="1167"/>
                  </a:cubicBezTo>
                  <a:lnTo>
                    <a:pt x="1107" y="548"/>
                  </a:lnTo>
                  <a:cubicBezTo>
                    <a:pt x="1357" y="596"/>
                    <a:pt x="1512" y="703"/>
                    <a:pt x="1512" y="774"/>
                  </a:cubicBezTo>
                  <a:cubicBezTo>
                    <a:pt x="1512" y="869"/>
                    <a:pt x="1584" y="953"/>
                    <a:pt x="1691" y="953"/>
                  </a:cubicBezTo>
                  <a:cubicBezTo>
                    <a:pt x="1774" y="953"/>
                    <a:pt x="1869" y="881"/>
                    <a:pt x="1869" y="774"/>
                  </a:cubicBezTo>
                  <a:cubicBezTo>
                    <a:pt x="1869" y="477"/>
                    <a:pt x="1548" y="250"/>
                    <a:pt x="1119" y="191"/>
                  </a:cubicBezTo>
                  <a:lnTo>
                    <a:pt x="1119" y="179"/>
                  </a:lnTo>
                  <a:cubicBezTo>
                    <a:pt x="1119" y="84"/>
                    <a:pt x="1048" y="0"/>
                    <a:pt x="941"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 name="Google Shape;9467;p63"/>
          <p:cNvGrpSpPr/>
          <p:nvPr/>
        </p:nvGrpSpPr>
        <p:grpSpPr>
          <a:xfrm>
            <a:off x="6653617" y="2606014"/>
            <a:ext cx="1804583" cy="1429385"/>
            <a:chOff x="5331913" y="3413947"/>
            <a:chExt cx="347143" cy="254684"/>
          </a:xfrm>
          <a:solidFill>
            <a:schemeClr val="accent4">
              <a:lumMod val="75000"/>
            </a:schemeClr>
          </a:solidFill>
        </p:grpSpPr>
        <p:sp>
          <p:nvSpPr>
            <p:cNvPr id="117" name="Google Shape;9468;p63"/>
            <p:cNvSpPr/>
            <p:nvPr/>
          </p:nvSpPr>
          <p:spPr>
            <a:xfrm>
              <a:off x="5597163" y="3523083"/>
              <a:ext cx="43222" cy="15564"/>
            </a:xfrm>
            <a:custGeom>
              <a:avLst/>
              <a:gdLst/>
              <a:ahLst/>
              <a:cxnLst/>
              <a:rect l="l" t="t" r="r" b="b"/>
              <a:pathLst>
                <a:path w="1358" h="489" extrusionOk="0">
                  <a:moveTo>
                    <a:pt x="167" y="0"/>
                  </a:moveTo>
                  <a:cubicBezTo>
                    <a:pt x="84" y="0"/>
                    <a:pt x="0" y="71"/>
                    <a:pt x="0" y="167"/>
                  </a:cubicBezTo>
                  <a:cubicBezTo>
                    <a:pt x="0" y="250"/>
                    <a:pt x="84" y="322"/>
                    <a:pt x="167" y="322"/>
                  </a:cubicBezTo>
                  <a:cubicBezTo>
                    <a:pt x="346" y="322"/>
                    <a:pt x="870" y="357"/>
                    <a:pt x="1120" y="476"/>
                  </a:cubicBezTo>
                  <a:cubicBezTo>
                    <a:pt x="1155" y="488"/>
                    <a:pt x="1167" y="488"/>
                    <a:pt x="1191" y="488"/>
                  </a:cubicBezTo>
                  <a:cubicBezTo>
                    <a:pt x="1251" y="488"/>
                    <a:pt x="1310" y="464"/>
                    <a:pt x="1346" y="405"/>
                  </a:cubicBezTo>
                  <a:cubicBezTo>
                    <a:pt x="1358" y="322"/>
                    <a:pt x="1334" y="226"/>
                    <a:pt x="1251" y="191"/>
                  </a:cubicBezTo>
                  <a:cubicBezTo>
                    <a:pt x="882" y="12"/>
                    <a:pt x="203"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9469;p63"/>
            <p:cNvSpPr/>
            <p:nvPr/>
          </p:nvSpPr>
          <p:spPr>
            <a:xfrm>
              <a:off x="5331913" y="3413947"/>
              <a:ext cx="347143" cy="253538"/>
            </a:xfrm>
            <a:custGeom>
              <a:avLst/>
              <a:gdLst/>
              <a:ahLst/>
              <a:cxnLst/>
              <a:rect l="l" t="t" r="r" b="b"/>
              <a:pathLst>
                <a:path w="10907" h="7966" extrusionOk="0">
                  <a:moveTo>
                    <a:pt x="7168" y="357"/>
                  </a:moveTo>
                  <a:lnTo>
                    <a:pt x="7168" y="1893"/>
                  </a:lnTo>
                  <a:cubicBezTo>
                    <a:pt x="7168" y="2131"/>
                    <a:pt x="7120" y="2357"/>
                    <a:pt x="7013" y="2560"/>
                  </a:cubicBezTo>
                  <a:cubicBezTo>
                    <a:pt x="7001" y="2584"/>
                    <a:pt x="7001" y="2608"/>
                    <a:pt x="7001" y="2643"/>
                  </a:cubicBezTo>
                  <a:lnTo>
                    <a:pt x="7001" y="3084"/>
                  </a:lnTo>
                  <a:cubicBezTo>
                    <a:pt x="7001" y="3512"/>
                    <a:pt x="6822" y="3917"/>
                    <a:pt x="6513" y="4203"/>
                  </a:cubicBezTo>
                  <a:cubicBezTo>
                    <a:pt x="6465" y="4227"/>
                    <a:pt x="6429" y="4274"/>
                    <a:pt x="6394" y="4310"/>
                  </a:cubicBezTo>
                  <a:cubicBezTo>
                    <a:pt x="6111" y="4514"/>
                    <a:pt x="5775" y="4621"/>
                    <a:pt x="5415" y="4621"/>
                  </a:cubicBezTo>
                  <a:cubicBezTo>
                    <a:pt x="5396" y="4621"/>
                    <a:pt x="5377" y="4620"/>
                    <a:pt x="5358" y="4620"/>
                  </a:cubicBezTo>
                  <a:cubicBezTo>
                    <a:pt x="4536" y="4560"/>
                    <a:pt x="3917" y="3858"/>
                    <a:pt x="3917" y="3024"/>
                  </a:cubicBezTo>
                  <a:lnTo>
                    <a:pt x="3917" y="2643"/>
                  </a:lnTo>
                  <a:cubicBezTo>
                    <a:pt x="3917" y="2608"/>
                    <a:pt x="3917" y="2596"/>
                    <a:pt x="3905" y="2560"/>
                  </a:cubicBezTo>
                  <a:cubicBezTo>
                    <a:pt x="3798" y="2357"/>
                    <a:pt x="3751" y="2131"/>
                    <a:pt x="3751" y="1893"/>
                  </a:cubicBezTo>
                  <a:lnTo>
                    <a:pt x="3751" y="1548"/>
                  </a:lnTo>
                  <a:cubicBezTo>
                    <a:pt x="3751" y="893"/>
                    <a:pt x="4286" y="357"/>
                    <a:pt x="4941" y="357"/>
                  </a:cubicBezTo>
                  <a:close/>
                  <a:moveTo>
                    <a:pt x="10013" y="2905"/>
                  </a:moveTo>
                  <a:lnTo>
                    <a:pt x="10013" y="3560"/>
                  </a:lnTo>
                  <a:cubicBezTo>
                    <a:pt x="10013" y="3667"/>
                    <a:pt x="9989" y="3774"/>
                    <a:pt x="9942" y="3870"/>
                  </a:cubicBezTo>
                  <a:lnTo>
                    <a:pt x="9870" y="4036"/>
                  </a:lnTo>
                  <a:cubicBezTo>
                    <a:pt x="9858" y="4048"/>
                    <a:pt x="9858" y="4084"/>
                    <a:pt x="9858" y="4108"/>
                  </a:cubicBezTo>
                  <a:lnTo>
                    <a:pt x="9858" y="4453"/>
                  </a:lnTo>
                  <a:cubicBezTo>
                    <a:pt x="9870" y="4679"/>
                    <a:pt x="9763" y="4882"/>
                    <a:pt x="9597" y="5048"/>
                  </a:cubicBezTo>
                  <a:cubicBezTo>
                    <a:pt x="9451" y="5205"/>
                    <a:pt x="9244" y="5288"/>
                    <a:pt x="9022" y="5288"/>
                  </a:cubicBezTo>
                  <a:cubicBezTo>
                    <a:pt x="9007" y="5288"/>
                    <a:pt x="8992" y="5287"/>
                    <a:pt x="8977" y="5286"/>
                  </a:cubicBezTo>
                  <a:cubicBezTo>
                    <a:pt x="8513" y="5275"/>
                    <a:pt x="8144" y="4870"/>
                    <a:pt x="8144" y="4382"/>
                  </a:cubicBezTo>
                  <a:lnTo>
                    <a:pt x="8144" y="4084"/>
                  </a:lnTo>
                  <a:cubicBezTo>
                    <a:pt x="8144" y="4048"/>
                    <a:pt x="8144" y="4036"/>
                    <a:pt x="8132" y="4012"/>
                  </a:cubicBezTo>
                  <a:lnTo>
                    <a:pt x="8025" y="3810"/>
                  </a:lnTo>
                  <a:cubicBezTo>
                    <a:pt x="8002" y="3741"/>
                    <a:pt x="7968" y="3672"/>
                    <a:pt x="7966" y="3582"/>
                  </a:cubicBezTo>
                  <a:lnTo>
                    <a:pt x="7966" y="3582"/>
                  </a:lnTo>
                  <a:cubicBezTo>
                    <a:pt x="7973" y="3196"/>
                    <a:pt x="8279" y="2905"/>
                    <a:pt x="8644" y="2905"/>
                  </a:cubicBezTo>
                  <a:close/>
                  <a:moveTo>
                    <a:pt x="1727" y="2893"/>
                  </a:moveTo>
                  <a:cubicBezTo>
                    <a:pt x="2000" y="2893"/>
                    <a:pt x="2250" y="3000"/>
                    <a:pt x="2441" y="3191"/>
                  </a:cubicBezTo>
                  <a:cubicBezTo>
                    <a:pt x="2643" y="3381"/>
                    <a:pt x="2739" y="3655"/>
                    <a:pt x="2774" y="3929"/>
                  </a:cubicBezTo>
                  <a:cubicBezTo>
                    <a:pt x="2774" y="4024"/>
                    <a:pt x="2786" y="4132"/>
                    <a:pt x="2786" y="4227"/>
                  </a:cubicBezTo>
                  <a:lnTo>
                    <a:pt x="2786" y="4262"/>
                  </a:lnTo>
                  <a:cubicBezTo>
                    <a:pt x="2608" y="3989"/>
                    <a:pt x="2358" y="3798"/>
                    <a:pt x="2000" y="3691"/>
                  </a:cubicBezTo>
                  <a:cubicBezTo>
                    <a:pt x="1753" y="3615"/>
                    <a:pt x="1520" y="3607"/>
                    <a:pt x="1431" y="3607"/>
                  </a:cubicBezTo>
                  <a:cubicBezTo>
                    <a:pt x="1409" y="3607"/>
                    <a:pt x="1396" y="3608"/>
                    <a:pt x="1393" y="3608"/>
                  </a:cubicBezTo>
                  <a:cubicBezTo>
                    <a:pt x="1346" y="3608"/>
                    <a:pt x="1310" y="3620"/>
                    <a:pt x="1286" y="3655"/>
                  </a:cubicBezTo>
                  <a:lnTo>
                    <a:pt x="1000" y="3953"/>
                  </a:lnTo>
                  <a:cubicBezTo>
                    <a:pt x="941" y="4012"/>
                    <a:pt x="941" y="4108"/>
                    <a:pt x="1000" y="4167"/>
                  </a:cubicBezTo>
                  <a:cubicBezTo>
                    <a:pt x="1030" y="4197"/>
                    <a:pt x="1072" y="4212"/>
                    <a:pt x="1113" y="4212"/>
                  </a:cubicBezTo>
                  <a:cubicBezTo>
                    <a:pt x="1155" y="4212"/>
                    <a:pt x="1197" y="4197"/>
                    <a:pt x="1226" y="4167"/>
                  </a:cubicBezTo>
                  <a:lnTo>
                    <a:pt x="1465" y="3917"/>
                  </a:lnTo>
                  <a:cubicBezTo>
                    <a:pt x="1667" y="3929"/>
                    <a:pt x="2322" y="4012"/>
                    <a:pt x="2572" y="4572"/>
                  </a:cubicBezTo>
                  <a:cubicBezTo>
                    <a:pt x="2500" y="4989"/>
                    <a:pt x="2143" y="5298"/>
                    <a:pt x="1727" y="5298"/>
                  </a:cubicBezTo>
                  <a:cubicBezTo>
                    <a:pt x="1250" y="5298"/>
                    <a:pt x="869" y="4917"/>
                    <a:pt x="869" y="4441"/>
                  </a:cubicBezTo>
                  <a:cubicBezTo>
                    <a:pt x="869" y="4346"/>
                    <a:pt x="798" y="4274"/>
                    <a:pt x="703" y="4274"/>
                  </a:cubicBezTo>
                  <a:lnTo>
                    <a:pt x="679" y="4274"/>
                  </a:lnTo>
                  <a:lnTo>
                    <a:pt x="679" y="4227"/>
                  </a:lnTo>
                  <a:cubicBezTo>
                    <a:pt x="679" y="4132"/>
                    <a:pt x="679" y="4024"/>
                    <a:pt x="691" y="3929"/>
                  </a:cubicBezTo>
                  <a:cubicBezTo>
                    <a:pt x="703" y="3655"/>
                    <a:pt x="822" y="3381"/>
                    <a:pt x="1012" y="3191"/>
                  </a:cubicBezTo>
                  <a:cubicBezTo>
                    <a:pt x="1215" y="3000"/>
                    <a:pt x="1465" y="2893"/>
                    <a:pt x="1727" y="2893"/>
                  </a:cubicBezTo>
                  <a:close/>
                  <a:moveTo>
                    <a:pt x="643" y="4882"/>
                  </a:moveTo>
                  <a:cubicBezTo>
                    <a:pt x="726" y="5096"/>
                    <a:pt x="881" y="5275"/>
                    <a:pt x="1060" y="5405"/>
                  </a:cubicBezTo>
                  <a:lnTo>
                    <a:pt x="1060" y="5596"/>
                  </a:lnTo>
                  <a:cubicBezTo>
                    <a:pt x="762" y="5501"/>
                    <a:pt x="619" y="5346"/>
                    <a:pt x="560" y="5275"/>
                  </a:cubicBezTo>
                  <a:cubicBezTo>
                    <a:pt x="595" y="5155"/>
                    <a:pt x="631" y="5036"/>
                    <a:pt x="643" y="4882"/>
                  </a:cubicBezTo>
                  <a:close/>
                  <a:moveTo>
                    <a:pt x="2798" y="4882"/>
                  </a:moveTo>
                  <a:cubicBezTo>
                    <a:pt x="2810" y="5024"/>
                    <a:pt x="2846" y="5155"/>
                    <a:pt x="2893" y="5263"/>
                  </a:cubicBezTo>
                  <a:cubicBezTo>
                    <a:pt x="2834" y="5346"/>
                    <a:pt x="2679" y="5477"/>
                    <a:pt x="2381" y="5596"/>
                  </a:cubicBezTo>
                  <a:lnTo>
                    <a:pt x="2381" y="5405"/>
                  </a:lnTo>
                  <a:cubicBezTo>
                    <a:pt x="2560" y="5275"/>
                    <a:pt x="2715" y="5096"/>
                    <a:pt x="2798" y="4882"/>
                  </a:cubicBezTo>
                  <a:close/>
                  <a:moveTo>
                    <a:pt x="6299" y="4727"/>
                  </a:moveTo>
                  <a:lnTo>
                    <a:pt x="6299" y="5001"/>
                  </a:lnTo>
                  <a:lnTo>
                    <a:pt x="5453" y="5596"/>
                  </a:lnTo>
                  <a:lnTo>
                    <a:pt x="4584" y="5024"/>
                  </a:lnTo>
                  <a:lnTo>
                    <a:pt x="4584" y="4727"/>
                  </a:lnTo>
                  <a:cubicBezTo>
                    <a:pt x="4810" y="4846"/>
                    <a:pt x="5060" y="4917"/>
                    <a:pt x="5322" y="4929"/>
                  </a:cubicBezTo>
                  <a:lnTo>
                    <a:pt x="5441" y="4929"/>
                  </a:lnTo>
                  <a:cubicBezTo>
                    <a:pt x="5739" y="4929"/>
                    <a:pt x="6037" y="4858"/>
                    <a:pt x="6299" y="4727"/>
                  </a:cubicBezTo>
                  <a:close/>
                  <a:moveTo>
                    <a:pt x="9347" y="5572"/>
                  </a:moveTo>
                  <a:lnTo>
                    <a:pt x="9347" y="5632"/>
                  </a:lnTo>
                  <a:cubicBezTo>
                    <a:pt x="9347" y="5656"/>
                    <a:pt x="9347" y="5691"/>
                    <a:pt x="9358" y="5715"/>
                  </a:cubicBezTo>
                  <a:lnTo>
                    <a:pt x="9001" y="6072"/>
                  </a:lnTo>
                  <a:lnTo>
                    <a:pt x="8644" y="5715"/>
                  </a:lnTo>
                  <a:cubicBezTo>
                    <a:pt x="8644" y="5691"/>
                    <a:pt x="8668" y="5656"/>
                    <a:pt x="8668" y="5632"/>
                  </a:cubicBezTo>
                  <a:lnTo>
                    <a:pt x="8668" y="5572"/>
                  </a:lnTo>
                  <a:cubicBezTo>
                    <a:pt x="8763" y="5596"/>
                    <a:pt x="8870" y="5632"/>
                    <a:pt x="8977" y="5632"/>
                  </a:cubicBezTo>
                  <a:lnTo>
                    <a:pt x="9001" y="5632"/>
                  </a:lnTo>
                  <a:cubicBezTo>
                    <a:pt x="9120" y="5632"/>
                    <a:pt x="9239" y="5620"/>
                    <a:pt x="9347" y="5572"/>
                  </a:cubicBezTo>
                  <a:close/>
                  <a:moveTo>
                    <a:pt x="2108" y="5572"/>
                  </a:moveTo>
                  <a:lnTo>
                    <a:pt x="2108" y="5739"/>
                  </a:lnTo>
                  <a:cubicBezTo>
                    <a:pt x="2108" y="5798"/>
                    <a:pt x="2119" y="5834"/>
                    <a:pt x="2143" y="5882"/>
                  </a:cubicBezTo>
                  <a:lnTo>
                    <a:pt x="1965" y="6013"/>
                  </a:lnTo>
                  <a:cubicBezTo>
                    <a:pt x="1899" y="6084"/>
                    <a:pt x="1816" y="6120"/>
                    <a:pt x="1731" y="6120"/>
                  </a:cubicBezTo>
                  <a:cubicBezTo>
                    <a:pt x="1646" y="6120"/>
                    <a:pt x="1560" y="6084"/>
                    <a:pt x="1488" y="6013"/>
                  </a:cubicBezTo>
                  <a:lnTo>
                    <a:pt x="1346" y="5882"/>
                  </a:lnTo>
                  <a:cubicBezTo>
                    <a:pt x="1369" y="5834"/>
                    <a:pt x="1381" y="5775"/>
                    <a:pt x="1381" y="5739"/>
                  </a:cubicBezTo>
                  <a:lnTo>
                    <a:pt x="1381" y="5572"/>
                  </a:lnTo>
                  <a:cubicBezTo>
                    <a:pt x="1488" y="5596"/>
                    <a:pt x="1607" y="5632"/>
                    <a:pt x="1750" y="5632"/>
                  </a:cubicBezTo>
                  <a:cubicBezTo>
                    <a:pt x="1857" y="5632"/>
                    <a:pt x="1977" y="5608"/>
                    <a:pt x="2108" y="5572"/>
                  </a:cubicBezTo>
                  <a:close/>
                  <a:moveTo>
                    <a:pt x="4465" y="5298"/>
                  </a:moveTo>
                  <a:lnTo>
                    <a:pt x="5215" y="5810"/>
                  </a:lnTo>
                  <a:lnTo>
                    <a:pt x="4810" y="6215"/>
                  </a:lnTo>
                  <a:lnTo>
                    <a:pt x="4798" y="6215"/>
                  </a:lnTo>
                  <a:lnTo>
                    <a:pt x="4310" y="5465"/>
                  </a:lnTo>
                  <a:lnTo>
                    <a:pt x="4465" y="5298"/>
                  </a:lnTo>
                  <a:close/>
                  <a:moveTo>
                    <a:pt x="6429" y="5298"/>
                  </a:moveTo>
                  <a:lnTo>
                    <a:pt x="6596" y="5465"/>
                  </a:lnTo>
                  <a:lnTo>
                    <a:pt x="6108" y="6215"/>
                  </a:lnTo>
                  <a:lnTo>
                    <a:pt x="6096" y="6215"/>
                  </a:lnTo>
                  <a:lnTo>
                    <a:pt x="5691" y="5810"/>
                  </a:lnTo>
                  <a:lnTo>
                    <a:pt x="6429" y="5298"/>
                  </a:lnTo>
                  <a:close/>
                  <a:moveTo>
                    <a:pt x="4905" y="0"/>
                  </a:moveTo>
                  <a:cubicBezTo>
                    <a:pt x="4072" y="0"/>
                    <a:pt x="3381" y="691"/>
                    <a:pt x="3381" y="1524"/>
                  </a:cubicBezTo>
                  <a:lnTo>
                    <a:pt x="3381" y="1869"/>
                  </a:lnTo>
                  <a:cubicBezTo>
                    <a:pt x="3381" y="2131"/>
                    <a:pt x="3441" y="2381"/>
                    <a:pt x="3548" y="2643"/>
                  </a:cubicBezTo>
                  <a:lnTo>
                    <a:pt x="3548" y="3000"/>
                  </a:lnTo>
                  <a:cubicBezTo>
                    <a:pt x="3548" y="3596"/>
                    <a:pt x="3810" y="4132"/>
                    <a:pt x="4227" y="4465"/>
                  </a:cubicBezTo>
                  <a:lnTo>
                    <a:pt x="4227" y="5001"/>
                  </a:lnTo>
                  <a:lnTo>
                    <a:pt x="3929" y="5322"/>
                  </a:lnTo>
                  <a:cubicBezTo>
                    <a:pt x="3905" y="5346"/>
                    <a:pt x="3893" y="5394"/>
                    <a:pt x="3893" y="5441"/>
                  </a:cubicBezTo>
                  <a:lnTo>
                    <a:pt x="2905" y="5798"/>
                  </a:lnTo>
                  <a:cubicBezTo>
                    <a:pt x="2834" y="5822"/>
                    <a:pt x="2774" y="5858"/>
                    <a:pt x="2715" y="5894"/>
                  </a:cubicBezTo>
                  <a:lnTo>
                    <a:pt x="2560" y="5822"/>
                  </a:lnTo>
                  <a:cubicBezTo>
                    <a:pt x="3024" y="5632"/>
                    <a:pt x="3155" y="5346"/>
                    <a:pt x="3179" y="5334"/>
                  </a:cubicBezTo>
                  <a:cubicBezTo>
                    <a:pt x="3203" y="5286"/>
                    <a:pt x="3203" y="5227"/>
                    <a:pt x="3179" y="5179"/>
                  </a:cubicBezTo>
                  <a:cubicBezTo>
                    <a:pt x="3060" y="4965"/>
                    <a:pt x="3036" y="4524"/>
                    <a:pt x="3036" y="4203"/>
                  </a:cubicBezTo>
                  <a:cubicBezTo>
                    <a:pt x="3036" y="4084"/>
                    <a:pt x="3036" y="3977"/>
                    <a:pt x="3024" y="3893"/>
                  </a:cubicBezTo>
                  <a:cubicBezTo>
                    <a:pt x="2965" y="3131"/>
                    <a:pt x="2405" y="2548"/>
                    <a:pt x="1691" y="2548"/>
                  </a:cubicBezTo>
                  <a:cubicBezTo>
                    <a:pt x="976" y="2548"/>
                    <a:pt x="393" y="3131"/>
                    <a:pt x="345" y="3893"/>
                  </a:cubicBezTo>
                  <a:cubicBezTo>
                    <a:pt x="345" y="3977"/>
                    <a:pt x="333" y="4084"/>
                    <a:pt x="333" y="4203"/>
                  </a:cubicBezTo>
                  <a:cubicBezTo>
                    <a:pt x="322" y="4548"/>
                    <a:pt x="298" y="4965"/>
                    <a:pt x="203" y="5179"/>
                  </a:cubicBezTo>
                  <a:cubicBezTo>
                    <a:pt x="167" y="5227"/>
                    <a:pt x="167" y="5286"/>
                    <a:pt x="203" y="5334"/>
                  </a:cubicBezTo>
                  <a:cubicBezTo>
                    <a:pt x="203" y="5346"/>
                    <a:pt x="345" y="5632"/>
                    <a:pt x="810" y="5822"/>
                  </a:cubicBezTo>
                  <a:lnTo>
                    <a:pt x="369" y="6037"/>
                  </a:lnTo>
                  <a:cubicBezTo>
                    <a:pt x="155" y="6156"/>
                    <a:pt x="0" y="6370"/>
                    <a:pt x="0" y="6632"/>
                  </a:cubicBezTo>
                  <a:lnTo>
                    <a:pt x="0" y="7799"/>
                  </a:lnTo>
                  <a:cubicBezTo>
                    <a:pt x="0" y="7894"/>
                    <a:pt x="72" y="7965"/>
                    <a:pt x="167" y="7965"/>
                  </a:cubicBezTo>
                  <a:cubicBezTo>
                    <a:pt x="250" y="7965"/>
                    <a:pt x="333" y="7894"/>
                    <a:pt x="333" y="7799"/>
                  </a:cubicBezTo>
                  <a:lnTo>
                    <a:pt x="333" y="6632"/>
                  </a:lnTo>
                  <a:cubicBezTo>
                    <a:pt x="333" y="6489"/>
                    <a:pt x="405" y="6370"/>
                    <a:pt x="524" y="6310"/>
                  </a:cubicBezTo>
                  <a:lnTo>
                    <a:pt x="1060" y="6048"/>
                  </a:lnTo>
                  <a:lnTo>
                    <a:pt x="1238" y="6227"/>
                  </a:lnTo>
                  <a:cubicBezTo>
                    <a:pt x="1369" y="6346"/>
                    <a:pt x="1536" y="6406"/>
                    <a:pt x="1703" y="6406"/>
                  </a:cubicBezTo>
                  <a:cubicBezTo>
                    <a:pt x="1857" y="6406"/>
                    <a:pt x="2024" y="6346"/>
                    <a:pt x="2155" y="6227"/>
                  </a:cubicBezTo>
                  <a:lnTo>
                    <a:pt x="2334" y="6048"/>
                  </a:lnTo>
                  <a:lnTo>
                    <a:pt x="2512" y="6132"/>
                  </a:lnTo>
                  <a:cubicBezTo>
                    <a:pt x="2441" y="6275"/>
                    <a:pt x="2381" y="6418"/>
                    <a:pt x="2381" y="6584"/>
                  </a:cubicBezTo>
                  <a:lnTo>
                    <a:pt x="2381" y="7799"/>
                  </a:lnTo>
                  <a:cubicBezTo>
                    <a:pt x="2381" y="7894"/>
                    <a:pt x="2453" y="7965"/>
                    <a:pt x="2548" y="7965"/>
                  </a:cubicBezTo>
                  <a:cubicBezTo>
                    <a:pt x="2631" y="7965"/>
                    <a:pt x="2715" y="7894"/>
                    <a:pt x="2715" y="7799"/>
                  </a:cubicBezTo>
                  <a:lnTo>
                    <a:pt x="2715" y="6584"/>
                  </a:lnTo>
                  <a:cubicBezTo>
                    <a:pt x="2715" y="6358"/>
                    <a:pt x="2846" y="6167"/>
                    <a:pt x="3048" y="6096"/>
                  </a:cubicBezTo>
                  <a:lnTo>
                    <a:pt x="4084" y="5715"/>
                  </a:lnTo>
                  <a:lnTo>
                    <a:pt x="4513" y="6358"/>
                  </a:lnTo>
                  <a:cubicBezTo>
                    <a:pt x="4572" y="6453"/>
                    <a:pt x="4655" y="6489"/>
                    <a:pt x="4751" y="6513"/>
                  </a:cubicBezTo>
                  <a:lnTo>
                    <a:pt x="4775" y="6513"/>
                  </a:lnTo>
                  <a:cubicBezTo>
                    <a:pt x="4870" y="6513"/>
                    <a:pt x="4941" y="6477"/>
                    <a:pt x="5013" y="6418"/>
                  </a:cubicBezTo>
                  <a:lnTo>
                    <a:pt x="5286" y="6156"/>
                  </a:lnTo>
                  <a:lnTo>
                    <a:pt x="5286" y="7799"/>
                  </a:lnTo>
                  <a:cubicBezTo>
                    <a:pt x="5286" y="7894"/>
                    <a:pt x="5358" y="7965"/>
                    <a:pt x="5453" y="7965"/>
                  </a:cubicBezTo>
                  <a:cubicBezTo>
                    <a:pt x="5537" y="7965"/>
                    <a:pt x="5608" y="7894"/>
                    <a:pt x="5608" y="7799"/>
                  </a:cubicBezTo>
                  <a:lnTo>
                    <a:pt x="5608" y="6156"/>
                  </a:lnTo>
                  <a:lnTo>
                    <a:pt x="5882" y="6418"/>
                  </a:lnTo>
                  <a:cubicBezTo>
                    <a:pt x="5941" y="6477"/>
                    <a:pt x="6025" y="6513"/>
                    <a:pt x="6120" y="6513"/>
                  </a:cubicBezTo>
                  <a:lnTo>
                    <a:pt x="6144" y="6513"/>
                  </a:lnTo>
                  <a:cubicBezTo>
                    <a:pt x="6251" y="6489"/>
                    <a:pt x="6322" y="6453"/>
                    <a:pt x="6382" y="6358"/>
                  </a:cubicBezTo>
                  <a:lnTo>
                    <a:pt x="6822" y="5715"/>
                  </a:lnTo>
                  <a:lnTo>
                    <a:pt x="7846" y="6096"/>
                  </a:lnTo>
                  <a:cubicBezTo>
                    <a:pt x="8049" y="6167"/>
                    <a:pt x="8192" y="6358"/>
                    <a:pt x="8192" y="6584"/>
                  </a:cubicBezTo>
                  <a:lnTo>
                    <a:pt x="8192" y="7799"/>
                  </a:lnTo>
                  <a:cubicBezTo>
                    <a:pt x="8192" y="7894"/>
                    <a:pt x="8263" y="7965"/>
                    <a:pt x="8346" y="7965"/>
                  </a:cubicBezTo>
                  <a:cubicBezTo>
                    <a:pt x="8442" y="7965"/>
                    <a:pt x="8513" y="7894"/>
                    <a:pt x="8513" y="7799"/>
                  </a:cubicBezTo>
                  <a:lnTo>
                    <a:pt x="8513" y="6584"/>
                  </a:lnTo>
                  <a:cubicBezTo>
                    <a:pt x="8513" y="6358"/>
                    <a:pt x="8430" y="6156"/>
                    <a:pt x="8275" y="6001"/>
                  </a:cubicBezTo>
                  <a:lnTo>
                    <a:pt x="8323" y="5989"/>
                  </a:lnTo>
                  <a:cubicBezTo>
                    <a:pt x="8370" y="5977"/>
                    <a:pt x="8406" y="5953"/>
                    <a:pt x="8465" y="5929"/>
                  </a:cubicBezTo>
                  <a:lnTo>
                    <a:pt x="8870" y="6334"/>
                  </a:lnTo>
                  <a:lnTo>
                    <a:pt x="8870" y="7787"/>
                  </a:lnTo>
                  <a:cubicBezTo>
                    <a:pt x="8870" y="7882"/>
                    <a:pt x="8942" y="7953"/>
                    <a:pt x="9037" y="7953"/>
                  </a:cubicBezTo>
                  <a:cubicBezTo>
                    <a:pt x="9120" y="7953"/>
                    <a:pt x="9204" y="7882"/>
                    <a:pt x="9204" y="7787"/>
                  </a:cubicBezTo>
                  <a:lnTo>
                    <a:pt x="9204" y="6334"/>
                  </a:lnTo>
                  <a:lnTo>
                    <a:pt x="9597" y="5929"/>
                  </a:lnTo>
                  <a:cubicBezTo>
                    <a:pt x="9620" y="5941"/>
                    <a:pt x="9644" y="5941"/>
                    <a:pt x="9680" y="5953"/>
                  </a:cubicBezTo>
                  <a:lnTo>
                    <a:pt x="10335" y="6156"/>
                  </a:lnTo>
                  <a:cubicBezTo>
                    <a:pt x="10478" y="6191"/>
                    <a:pt x="10585" y="6334"/>
                    <a:pt x="10585" y="6489"/>
                  </a:cubicBezTo>
                  <a:lnTo>
                    <a:pt x="10585" y="7799"/>
                  </a:lnTo>
                  <a:cubicBezTo>
                    <a:pt x="10585" y="7894"/>
                    <a:pt x="10656" y="7965"/>
                    <a:pt x="10751" y="7965"/>
                  </a:cubicBezTo>
                  <a:cubicBezTo>
                    <a:pt x="10835" y="7965"/>
                    <a:pt x="10906" y="7894"/>
                    <a:pt x="10906" y="7799"/>
                  </a:cubicBezTo>
                  <a:lnTo>
                    <a:pt x="10906" y="6489"/>
                  </a:lnTo>
                  <a:cubicBezTo>
                    <a:pt x="10871" y="6227"/>
                    <a:pt x="10656" y="5953"/>
                    <a:pt x="10382" y="5870"/>
                  </a:cubicBezTo>
                  <a:lnTo>
                    <a:pt x="9716" y="5679"/>
                  </a:lnTo>
                  <a:cubicBezTo>
                    <a:pt x="9692" y="5656"/>
                    <a:pt x="9680" y="5644"/>
                    <a:pt x="9680" y="5620"/>
                  </a:cubicBezTo>
                  <a:lnTo>
                    <a:pt x="9680" y="5394"/>
                  </a:lnTo>
                  <a:cubicBezTo>
                    <a:pt x="9739" y="5358"/>
                    <a:pt x="9787" y="5322"/>
                    <a:pt x="9823" y="5275"/>
                  </a:cubicBezTo>
                  <a:cubicBezTo>
                    <a:pt x="10049" y="5048"/>
                    <a:pt x="10180" y="4751"/>
                    <a:pt x="10180" y="4429"/>
                  </a:cubicBezTo>
                  <a:lnTo>
                    <a:pt x="10180" y="4132"/>
                  </a:lnTo>
                  <a:lnTo>
                    <a:pt x="10239" y="3989"/>
                  </a:lnTo>
                  <a:cubicBezTo>
                    <a:pt x="10323" y="3858"/>
                    <a:pt x="10347" y="3691"/>
                    <a:pt x="10347" y="3548"/>
                  </a:cubicBezTo>
                  <a:lnTo>
                    <a:pt x="10347" y="2727"/>
                  </a:lnTo>
                  <a:cubicBezTo>
                    <a:pt x="10347" y="2643"/>
                    <a:pt x="10275" y="2560"/>
                    <a:pt x="10180" y="2560"/>
                  </a:cubicBezTo>
                  <a:lnTo>
                    <a:pt x="8656" y="2560"/>
                  </a:lnTo>
                  <a:cubicBezTo>
                    <a:pt x="8096" y="2560"/>
                    <a:pt x="7644" y="3012"/>
                    <a:pt x="7644" y="3572"/>
                  </a:cubicBezTo>
                  <a:lnTo>
                    <a:pt x="7644" y="3596"/>
                  </a:lnTo>
                  <a:cubicBezTo>
                    <a:pt x="7644" y="3727"/>
                    <a:pt x="7668" y="3846"/>
                    <a:pt x="7727" y="3965"/>
                  </a:cubicBezTo>
                  <a:lnTo>
                    <a:pt x="7799" y="4132"/>
                  </a:lnTo>
                  <a:lnTo>
                    <a:pt x="7799" y="4382"/>
                  </a:lnTo>
                  <a:cubicBezTo>
                    <a:pt x="7799" y="4798"/>
                    <a:pt x="8013" y="5155"/>
                    <a:pt x="8311" y="5382"/>
                  </a:cubicBezTo>
                  <a:lnTo>
                    <a:pt x="8311" y="5596"/>
                  </a:lnTo>
                  <a:cubicBezTo>
                    <a:pt x="8311" y="5632"/>
                    <a:pt x="8311" y="5644"/>
                    <a:pt x="8180" y="5691"/>
                  </a:cubicBezTo>
                  <a:lnTo>
                    <a:pt x="7858" y="5775"/>
                  </a:lnTo>
                  <a:lnTo>
                    <a:pt x="6941" y="5441"/>
                  </a:lnTo>
                  <a:cubicBezTo>
                    <a:pt x="6941" y="5394"/>
                    <a:pt x="6930" y="5346"/>
                    <a:pt x="6894" y="5322"/>
                  </a:cubicBezTo>
                  <a:lnTo>
                    <a:pt x="6596" y="5001"/>
                  </a:lnTo>
                  <a:lnTo>
                    <a:pt x="6596" y="4489"/>
                  </a:lnTo>
                  <a:cubicBezTo>
                    <a:pt x="6632" y="4453"/>
                    <a:pt x="6656" y="4429"/>
                    <a:pt x="6691" y="4405"/>
                  </a:cubicBezTo>
                  <a:cubicBezTo>
                    <a:pt x="7061" y="4072"/>
                    <a:pt x="7263" y="3560"/>
                    <a:pt x="7263" y="3060"/>
                  </a:cubicBezTo>
                  <a:lnTo>
                    <a:pt x="7263" y="2643"/>
                  </a:lnTo>
                  <a:cubicBezTo>
                    <a:pt x="7382" y="2405"/>
                    <a:pt x="7430" y="2131"/>
                    <a:pt x="7430" y="1869"/>
                  </a:cubicBezTo>
                  <a:lnTo>
                    <a:pt x="7430" y="167"/>
                  </a:lnTo>
                  <a:cubicBezTo>
                    <a:pt x="7430" y="83"/>
                    <a:pt x="7358" y="0"/>
                    <a:pt x="7263"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9470;p63"/>
            <p:cNvSpPr/>
            <p:nvPr/>
          </p:nvSpPr>
          <p:spPr>
            <a:xfrm>
              <a:off x="5645669" y="3625759"/>
              <a:ext cx="10248" cy="42872"/>
            </a:xfrm>
            <a:custGeom>
              <a:avLst/>
              <a:gdLst/>
              <a:ahLst/>
              <a:cxnLst/>
              <a:rect l="l" t="t" r="r" b="b"/>
              <a:pathLst>
                <a:path w="322" h="1347" extrusionOk="0">
                  <a:moveTo>
                    <a:pt x="167" y="1"/>
                  </a:moveTo>
                  <a:cubicBezTo>
                    <a:pt x="72" y="1"/>
                    <a:pt x="0" y="72"/>
                    <a:pt x="0" y="167"/>
                  </a:cubicBezTo>
                  <a:lnTo>
                    <a:pt x="0" y="1179"/>
                  </a:lnTo>
                  <a:cubicBezTo>
                    <a:pt x="0" y="1263"/>
                    <a:pt x="72" y="1346"/>
                    <a:pt x="167" y="1346"/>
                  </a:cubicBezTo>
                  <a:cubicBezTo>
                    <a:pt x="251" y="1346"/>
                    <a:pt x="322" y="1263"/>
                    <a:pt x="322" y="1179"/>
                  </a:cubicBezTo>
                  <a:lnTo>
                    <a:pt x="322" y="167"/>
                  </a:lnTo>
                  <a:cubicBezTo>
                    <a:pt x="322" y="60"/>
                    <a:pt x="251" y="1"/>
                    <a:pt x="167" y="1"/>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9471;p63"/>
            <p:cNvSpPr/>
            <p:nvPr/>
          </p:nvSpPr>
          <p:spPr>
            <a:xfrm>
              <a:off x="5462247" y="3461115"/>
              <a:ext cx="86825" cy="29759"/>
            </a:xfrm>
            <a:custGeom>
              <a:avLst/>
              <a:gdLst/>
              <a:ahLst/>
              <a:cxnLst/>
              <a:rect l="l" t="t" r="r" b="b"/>
              <a:pathLst>
                <a:path w="2728" h="935" extrusionOk="0">
                  <a:moveTo>
                    <a:pt x="1094" y="0"/>
                  </a:moveTo>
                  <a:cubicBezTo>
                    <a:pt x="768" y="0"/>
                    <a:pt x="473" y="35"/>
                    <a:pt x="287" y="66"/>
                  </a:cubicBezTo>
                  <a:cubicBezTo>
                    <a:pt x="120" y="102"/>
                    <a:pt x="1" y="233"/>
                    <a:pt x="1" y="399"/>
                  </a:cubicBezTo>
                  <a:lnTo>
                    <a:pt x="1" y="768"/>
                  </a:lnTo>
                  <a:cubicBezTo>
                    <a:pt x="1" y="864"/>
                    <a:pt x="72" y="935"/>
                    <a:pt x="168" y="935"/>
                  </a:cubicBezTo>
                  <a:cubicBezTo>
                    <a:pt x="251" y="935"/>
                    <a:pt x="322" y="864"/>
                    <a:pt x="322" y="768"/>
                  </a:cubicBezTo>
                  <a:lnTo>
                    <a:pt x="322" y="399"/>
                  </a:lnTo>
                  <a:cubicBezTo>
                    <a:pt x="322" y="399"/>
                    <a:pt x="322" y="387"/>
                    <a:pt x="346" y="387"/>
                  </a:cubicBezTo>
                  <a:cubicBezTo>
                    <a:pt x="498" y="361"/>
                    <a:pt x="764" y="327"/>
                    <a:pt x="1063" y="327"/>
                  </a:cubicBezTo>
                  <a:cubicBezTo>
                    <a:pt x="1162" y="327"/>
                    <a:pt x="1266" y="331"/>
                    <a:pt x="1370" y="340"/>
                  </a:cubicBezTo>
                  <a:cubicBezTo>
                    <a:pt x="1858" y="364"/>
                    <a:pt x="2215" y="506"/>
                    <a:pt x="2442" y="709"/>
                  </a:cubicBezTo>
                  <a:cubicBezTo>
                    <a:pt x="2471" y="739"/>
                    <a:pt x="2513" y="753"/>
                    <a:pt x="2555" y="753"/>
                  </a:cubicBezTo>
                  <a:cubicBezTo>
                    <a:pt x="2596" y="753"/>
                    <a:pt x="2638" y="739"/>
                    <a:pt x="2668" y="709"/>
                  </a:cubicBezTo>
                  <a:cubicBezTo>
                    <a:pt x="2727" y="637"/>
                    <a:pt x="2727" y="530"/>
                    <a:pt x="2656" y="471"/>
                  </a:cubicBezTo>
                  <a:cubicBezTo>
                    <a:pt x="2283" y="97"/>
                    <a:pt x="1643" y="0"/>
                    <a:pt x="1094"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9472;p63"/>
            <p:cNvSpPr/>
            <p:nvPr/>
          </p:nvSpPr>
          <p:spPr>
            <a:xfrm>
              <a:off x="5441050" y="3636389"/>
              <a:ext cx="10248" cy="32241"/>
            </a:xfrm>
            <a:custGeom>
              <a:avLst/>
              <a:gdLst/>
              <a:ahLst/>
              <a:cxnLst/>
              <a:rect l="l" t="t" r="r" b="b"/>
              <a:pathLst>
                <a:path w="322" h="1013" extrusionOk="0">
                  <a:moveTo>
                    <a:pt x="167" y="0"/>
                  </a:moveTo>
                  <a:cubicBezTo>
                    <a:pt x="72" y="0"/>
                    <a:pt x="0" y="71"/>
                    <a:pt x="0" y="155"/>
                  </a:cubicBezTo>
                  <a:lnTo>
                    <a:pt x="0" y="845"/>
                  </a:lnTo>
                  <a:cubicBezTo>
                    <a:pt x="0" y="929"/>
                    <a:pt x="72" y="1012"/>
                    <a:pt x="167" y="1012"/>
                  </a:cubicBezTo>
                  <a:cubicBezTo>
                    <a:pt x="250" y="1012"/>
                    <a:pt x="322" y="929"/>
                    <a:pt x="322" y="845"/>
                  </a:cubicBezTo>
                  <a:lnTo>
                    <a:pt x="322" y="155"/>
                  </a:lnTo>
                  <a:cubicBezTo>
                    <a:pt x="310" y="71"/>
                    <a:pt x="250" y="0"/>
                    <a:pt x="167"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9473;p63"/>
            <p:cNvSpPr/>
            <p:nvPr/>
          </p:nvSpPr>
          <p:spPr>
            <a:xfrm>
              <a:off x="5559257" y="3636389"/>
              <a:ext cx="10662" cy="32241"/>
            </a:xfrm>
            <a:custGeom>
              <a:avLst/>
              <a:gdLst/>
              <a:ahLst/>
              <a:cxnLst/>
              <a:rect l="l" t="t" r="r" b="b"/>
              <a:pathLst>
                <a:path w="335" h="1013" extrusionOk="0">
                  <a:moveTo>
                    <a:pt x="168" y="0"/>
                  </a:moveTo>
                  <a:cubicBezTo>
                    <a:pt x="84" y="0"/>
                    <a:pt x="1" y="71"/>
                    <a:pt x="1" y="155"/>
                  </a:cubicBezTo>
                  <a:lnTo>
                    <a:pt x="1" y="845"/>
                  </a:lnTo>
                  <a:cubicBezTo>
                    <a:pt x="1" y="929"/>
                    <a:pt x="84" y="1012"/>
                    <a:pt x="168" y="1012"/>
                  </a:cubicBezTo>
                  <a:cubicBezTo>
                    <a:pt x="263" y="1012"/>
                    <a:pt x="334" y="929"/>
                    <a:pt x="334" y="845"/>
                  </a:cubicBezTo>
                  <a:lnTo>
                    <a:pt x="334" y="155"/>
                  </a:lnTo>
                  <a:cubicBezTo>
                    <a:pt x="334" y="71"/>
                    <a:pt x="263" y="0"/>
                    <a:pt x="168" y="0"/>
                  </a:cubicBezTo>
                  <a:close/>
                </a:path>
              </a:pathLst>
            </a:custGeom>
            <a:grp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D4A7D"/>
        </a:solidFill>
        <a:effectLst/>
      </p:bgPr>
    </p:bg>
    <p:spTree>
      <p:nvGrpSpPr>
        <p:cNvPr id="1" name=""/>
        <p:cNvGrpSpPr/>
        <p:nvPr/>
      </p:nvGrpSpPr>
      <p:grpSpPr>
        <a:xfrm>
          <a:off x="0" y="0"/>
          <a:ext cx="0" cy="0"/>
          <a:chOff x="0" y="0"/>
          <a:chExt cx="0" cy="0"/>
        </a:xfrm>
      </p:grpSpPr>
      <p:sp>
        <p:nvSpPr>
          <p:cNvPr id="4" name="TextBox 4"/>
          <p:cNvSpPr txBox="1"/>
          <p:nvPr/>
        </p:nvSpPr>
        <p:spPr>
          <a:xfrm>
            <a:off x="1905000" y="1005840"/>
            <a:ext cx="7294823" cy="2641749"/>
          </a:xfrm>
          <a:prstGeom prst="rect">
            <a:avLst/>
          </a:prstGeom>
        </p:spPr>
        <p:txBody>
          <a:bodyPr lIns="0" tIns="0" rIns="0" bIns="0" rtlCol="0" anchor="t">
            <a:spAutoFit/>
          </a:bodyPr>
          <a:lstStyle/>
          <a:p>
            <a:pPr algn="l">
              <a:lnSpc>
                <a:spcPts val="10258"/>
              </a:lnSpc>
            </a:pPr>
            <a:r>
              <a:rPr lang="en-US" sz="9678" dirty="0">
                <a:solidFill>
                  <a:srgbClr val="F2F1FF"/>
                </a:solidFill>
                <a:latin typeface="Fredoka"/>
                <a:ea typeface="Fredoka"/>
                <a:cs typeface="Fredoka"/>
                <a:sym typeface="Fredoka"/>
              </a:rPr>
              <a:t>Operational </a:t>
            </a:r>
          </a:p>
          <a:p>
            <a:pPr algn="ctr">
              <a:lnSpc>
                <a:spcPts val="10258"/>
              </a:lnSpc>
            </a:pPr>
            <a:r>
              <a:rPr lang="en-US" sz="9678" dirty="0">
                <a:solidFill>
                  <a:srgbClr val="F2F1FF"/>
                </a:solidFill>
                <a:latin typeface="Fredoka"/>
                <a:ea typeface="Fredoka"/>
                <a:cs typeface="Fredoka"/>
                <a:sym typeface="Fredoka"/>
              </a:rPr>
              <a:t>Efficiency </a:t>
            </a:r>
          </a:p>
        </p:txBody>
      </p:sp>
      <p:sp>
        <p:nvSpPr>
          <p:cNvPr id="12" name="Freeform 12"/>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7" name="Group 16"/>
          <p:cNvGrpSpPr/>
          <p:nvPr/>
        </p:nvGrpSpPr>
        <p:grpSpPr>
          <a:xfrm>
            <a:off x="914400" y="4152900"/>
            <a:ext cx="10083800" cy="4844107"/>
            <a:chOff x="812800" y="4812225"/>
            <a:chExt cx="10083800" cy="4844107"/>
          </a:xfrm>
        </p:grpSpPr>
        <p:grpSp>
          <p:nvGrpSpPr>
            <p:cNvPr id="13" name="Group 12"/>
            <p:cNvGrpSpPr/>
            <p:nvPr/>
          </p:nvGrpSpPr>
          <p:grpSpPr>
            <a:xfrm>
              <a:off x="812800" y="4812225"/>
              <a:ext cx="10083800" cy="2367045"/>
              <a:chOff x="762000" y="5184122"/>
              <a:chExt cx="8915400" cy="2367045"/>
            </a:xfrm>
          </p:grpSpPr>
          <p:sp>
            <p:nvSpPr>
              <p:cNvPr id="6" name="TextBox 6"/>
              <p:cNvSpPr txBox="1"/>
              <p:nvPr/>
            </p:nvSpPr>
            <p:spPr>
              <a:xfrm>
                <a:off x="787400" y="6807374"/>
                <a:ext cx="8890000" cy="743793"/>
              </a:xfrm>
              <a:prstGeom prst="rect">
                <a:avLst/>
              </a:prstGeom>
            </p:spPr>
            <p:txBody>
              <a:bodyPr wrap="square" lIns="0" tIns="0" rIns="0" bIns="0" rtlCol="0" anchor="t">
                <a:spAutoFit/>
              </a:bodyPr>
              <a:lstStyle/>
              <a:p>
                <a:pPr algn="l">
                  <a:lnSpc>
                    <a:spcPts val="2940"/>
                  </a:lnSpc>
                </a:pPr>
                <a:r>
                  <a:rPr lang="en-US" sz="2100" dirty="0">
                    <a:solidFill>
                      <a:srgbClr val="F2F1FF"/>
                    </a:solidFill>
                    <a:latin typeface="Poppins"/>
                    <a:ea typeface="Poppins"/>
                    <a:cs typeface="Poppins"/>
                    <a:sym typeface="Poppins"/>
                  </a:rPr>
                  <a:t>Balanced workload, ensuring quality care without overburdening staff</a:t>
                </a:r>
              </a:p>
            </p:txBody>
          </p:sp>
          <p:sp>
            <p:nvSpPr>
              <p:cNvPr id="7" name="TextBox 7"/>
              <p:cNvSpPr txBox="1"/>
              <p:nvPr/>
            </p:nvSpPr>
            <p:spPr>
              <a:xfrm>
                <a:off x="762000" y="5184122"/>
                <a:ext cx="8153400" cy="1513235"/>
              </a:xfrm>
              <a:prstGeom prst="rect">
                <a:avLst/>
              </a:prstGeom>
            </p:spPr>
            <p:txBody>
              <a:bodyPr wrap="square" lIns="0" tIns="0" rIns="0" bIns="0" rtlCol="0" anchor="t">
                <a:spAutoFit/>
              </a:bodyPr>
              <a:lstStyle/>
              <a:p>
                <a:pPr algn="l">
                  <a:lnSpc>
                    <a:spcPts val="5880"/>
                  </a:lnSpc>
                </a:pPr>
                <a:r>
                  <a:rPr lang="en-US" sz="4200" b="1" dirty="0">
                    <a:solidFill>
                      <a:srgbClr val="DDCAE9"/>
                    </a:solidFill>
                    <a:latin typeface="Poppins Bold"/>
                    <a:ea typeface="Poppins Bold"/>
                    <a:cs typeface="Poppins Bold"/>
                    <a:sym typeface="Poppins Bold"/>
                  </a:rPr>
                  <a:t>Doctor Workload – </a:t>
                </a:r>
              </a:p>
              <a:p>
                <a:pPr algn="l">
                  <a:lnSpc>
                    <a:spcPts val="5880"/>
                  </a:lnSpc>
                </a:pPr>
                <a:r>
                  <a:rPr lang="en-US" sz="4200" b="1" dirty="0">
                    <a:solidFill>
                      <a:srgbClr val="DDCAE9"/>
                    </a:solidFill>
                    <a:latin typeface="Poppins Bold"/>
                    <a:ea typeface="Poppins Bold"/>
                    <a:cs typeface="Poppins Bold"/>
                    <a:sym typeface="Poppins Bold"/>
                  </a:rPr>
                  <a:t>10 patients per doctor</a:t>
                </a:r>
              </a:p>
            </p:txBody>
          </p:sp>
        </p:grpSp>
        <p:grpSp>
          <p:nvGrpSpPr>
            <p:cNvPr id="14" name="Group 13"/>
            <p:cNvGrpSpPr/>
            <p:nvPr/>
          </p:nvGrpSpPr>
          <p:grpSpPr>
            <a:xfrm>
              <a:off x="854228" y="7289287"/>
              <a:ext cx="9889971" cy="2367045"/>
              <a:chOff x="762000" y="5184122"/>
              <a:chExt cx="8737600" cy="2367045"/>
            </a:xfrm>
          </p:grpSpPr>
          <p:sp>
            <p:nvSpPr>
              <p:cNvPr id="15" name="TextBox 6"/>
              <p:cNvSpPr txBox="1"/>
              <p:nvPr/>
            </p:nvSpPr>
            <p:spPr>
              <a:xfrm>
                <a:off x="787400" y="6807374"/>
                <a:ext cx="8712200" cy="743793"/>
              </a:xfrm>
              <a:prstGeom prst="rect">
                <a:avLst/>
              </a:prstGeom>
            </p:spPr>
            <p:txBody>
              <a:bodyPr wrap="square" lIns="0" tIns="0" rIns="0" bIns="0" rtlCol="0" anchor="t">
                <a:spAutoFit/>
              </a:bodyPr>
              <a:lstStyle/>
              <a:p>
                <a:pPr algn="l">
                  <a:lnSpc>
                    <a:spcPts val="2940"/>
                  </a:lnSpc>
                </a:pPr>
                <a:r>
                  <a:rPr lang="en-US" sz="2100" dirty="0">
                    <a:solidFill>
                      <a:srgbClr val="F2F1FF"/>
                    </a:solidFill>
                    <a:latin typeface="Poppins"/>
                    <a:ea typeface="Poppins"/>
                    <a:cs typeface="Poppins"/>
                    <a:sym typeface="Poppins"/>
                  </a:rPr>
                  <a:t>Moderate retention rate; improving follow-ups can increase recurring revenue and better patient outcomes</a:t>
                </a:r>
              </a:p>
            </p:txBody>
          </p:sp>
          <p:sp>
            <p:nvSpPr>
              <p:cNvPr id="16" name="TextBox 7"/>
              <p:cNvSpPr txBox="1"/>
              <p:nvPr/>
            </p:nvSpPr>
            <p:spPr>
              <a:xfrm>
                <a:off x="762000" y="5184122"/>
                <a:ext cx="8153400" cy="1513235"/>
              </a:xfrm>
              <a:prstGeom prst="rect">
                <a:avLst/>
              </a:prstGeom>
            </p:spPr>
            <p:txBody>
              <a:bodyPr wrap="square" lIns="0" tIns="0" rIns="0" bIns="0" rtlCol="0" anchor="t">
                <a:spAutoFit/>
              </a:bodyPr>
              <a:lstStyle/>
              <a:p>
                <a:pPr algn="l">
                  <a:lnSpc>
                    <a:spcPts val="5880"/>
                  </a:lnSpc>
                </a:pPr>
                <a:r>
                  <a:rPr lang="en-US" sz="4200" b="1" dirty="0">
                    <a:solidFill>
                      <a:srgbClr val="DDCAE9"/>
                    </a:solidFill>
                    <a:latin typeface="Poppins Bold"/>
                    <a:ea typeface="Poppins Bold"/>
                    <a:cs typeface="Poppins Bold"/>
                    <a:sym typeface="Poppins Bold"/>
                  </a:rPr>
                  <a:t>Follow–Up Rate – </a:t>
                </a:r>
              </a:p>
              <a:p>
                <a:pPr algn="l">
                  <a:lnSpc>
                    <a:spcPts val="5880"/>
                  </a:lnSpc>
                </a:pPr>
                <a:r>
                  <a:rPr lang="en-US" sz="4200" b="1" dirty="0">
                    <a:solidFill>
                      <a:srgbClr val="DDCAE9"/>
                    </a:solidFill>
                    <a:latin typeface="Poppins Bold"/>
                    <a:ea typeface="Poppins Bold"/>
                    <a:cs typeface="Poppins Bold"/>
                    <a:sym typeface="Poppins Bold"/>
                  </a:rPr>
                  <a:t>50.58%</a:t>
                </a:r>
              </a:p>
            </p:txBody>
          </p:sp>
        </p:grpSp>
      </p:grpSp>
      <p:pic>
        <p:nvPicPr>
          <p:cNvPr id="3074" name="Picture 2" descr="Healthcare illustration Images - Free Download on Freepi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91800" y="2705100"/>
            <a:ext cx="7315200" cy="629190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D4A7D"/>
        </a:solidFill>
        <a:effectLst/>
      </p:bgPr>
    </p:bg>
    <p:spTree>
      <p:nvGrpSpPr>
        <p:cNvPr id="1" name=""/>
        <p:cNvGrpSpPr/>
        <p:nvPr/>
      </p:nvGrpSpPr>
      <p:grpSpPr>
        <a:xfrm>
          <a:off x="0" y="0"/>
          <a:ext cx="0" cy="0"/>
          <a:chOff x="0" y="0"/>
          <a:chExt cx="0" cy="0"/>
        </a:xfrm>
      </p:grpSpPr>
      <p:sp>
        <p:nvSpPr>
          <p:cNvPr id="8" name="TextBox 8"/>
          <p:cNvSpPr txBox="1"/>
          <p:nvPr/>
        </p:nvSpPr>
        <p:spPr>
          <a:xfrm>
            <a:off x="1204347" y="495300"/>
            <a:ext cx="12664053" cy="1230786"/>
          </a:xfrm>
          <a:prstGeom prst="rect">
            <a:avLst/>
          </a:prstGeom>
        </p:spPr>
        <p:txBody>
          <a:bodyPr wrap="square" lIns="0" tIns="0" rIns="0" bIns="0" rtlCol="0" anchor="t">
            <a:spAutoFit/>
          </a:bodyPr>
          <a:lstStyle/>
          <a:p>
            <a:pPr algn="l">
              <a:lnSpc>
                <a:spcPts val="10258"/>
              </a:lnSpc>
            </a:pPr>
            <a:r>
              <a:rPr lang="en-US" sz="6600" dirty="0">
                <a:solidFill>
                  <a:srgbClr val="F2F1FF"/>
                </a:solidFill>
                <a:latin typeface="Fredoka"/>
                <a:ea typeface="Fredoka"/>
                <a:cs typeface="Fredoka"/>
                <a:sym typeface="Fredoka"/>
              </a:rPr>
              <a:t>Patient &amp; Clinical Insights</a:t>
            </a:r>
          </a:p>
        </p:txBody>
      </p:sp>
      <p:sp>
        <p:nvSpPr>
          <p:cNvPr id="9" name="TextBox 9"/>
          <p:cNvSpPr txBox="1"/>
          <p:nvPr/>
        </p:nvSpPr>
        <p:spPr>
          <a:xfrm>
            <a:off x="1362576" y="7048500"/>
            <a:ext cx="4352424" cy="2500685"/>
          </a:xfrm>
          <a:prstGeom prst="rect">
            <a:avLst/>
          </a:prstGeom>
        </p:spPr>
        <p:txBody>
          <a:bodyPr wrap="square" lIns="0" tIns="0" rIns="0" bIns="0" rtlCol="0" anchor="t">
            <a:spAutoFit/>
          </a:bodyPr>
          <a:lstStyle/>
          <a:p>
            <a:pPr algn="ctr">
              <a:lnSpc>
                <a:spcPts val="3919"/>
              </a:lnSpc>
            </a:pPr>
            <a:r>
              <a:rPr lang="en-US" sz="2799" dirty="0">
                <a:solidFill>
                  <a:srgbClr val="F2F1FF"/>
                </a:solidFill>
                <a:latin typeface="Poppins"/>
                <a:ea typeface="Poppins"/>
                <a:cs typeface="Poppins"/>
                <a:sym typeface="Poppins"/>
              </a:rPr>
              <a:t>Lifestyle-related disease dominate. Hospital can focus on preventive care programs and specialty services.</a:t>
            </a:r>
          </a:p>
        </p:txBody>
      </p:sp>
      <p:sp>
        <p:nvSpPr>
          <p:cNvPr id="10" name="Freeform 10"/>
          <p:cNvSpPr/>
          <p:nvPr/>
        </p:nvSpPr>
        <p:spPr>
          <a:xfrm flipH="1">
            <a:off x="14314668"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5" name="TextBox 9"/>
          <p:cNvSpPr txBox="1"/>
          <p:nvPr/>
        </p:nvSpPr>
        <p:spPr>
          <a:xfrm>
            <a:off x="12535747" y="7048500"/>
            <a:ext cx="4352424" cy="2500685"/>
          </a:xfrm>
          <a:prstGeom prst="rect">
            <a:avLst/>
          </a:prstGeom>
        </p:spPr>
        <p:txBody>
          <a:bodyPr wrap="square" lIns="0" tIns="0" rIns="0" bIns="0" rtlCol="0" anchor="t">
            <a:spAutoFit/>
          </a:bodyPr>
          <a:lstStyle/>
          <a:p>
            <a:pPr algn="ctr">
              <a:lnSpc>
                <a:spcPts val="3919"/>
              </a:lnSpc>
            </a:pPr>
            <a:r>
              <a:rPr lang="en-US" sz="2799" dirty="0">
                <a:solidFill>
                  <a:srgbClr val="F2F1FF"/>
                </a:solidFill>
                <a:latin typeface="Poppins"/>
                <a:ea typeface="Poppins"/>
                <a:cs typeface="Poppins"/>
                <a:sym typeface="Poppins"/>
              </a:rPr>
              <a:t>New York is the strongest market. Expansion strategies can focus on high-demand cities</a:t>
            </a:r>
          </a:p>
        </p:txBody>
      </p:sp>
      <p:sp>
        <p:nvSpPr>
          <p:cNvPr id="16" name="TextBox 9"/>
          <p:cNvSpPr txBox="1"/>
          <p:nvPr/>
        </p:nvSpPr>
        <p:spPr>
          <a:xfrm>
            <a:off x="6705600" y="7048500"/>
            <a:ext cx="5105400" cy="3000821"/>
          </a:xfrm>
          <a:prstGeom prst="rect">
            <a:avLst/>
          </a:prstGeom>
        </p:spPr>
        <p:txBody>
          <a:bodyPr wrap="square" lIns="0" tIns="0" rIns="0" bIns="0" rtlCol="0" anchor="t">
            <a:spAutoFit/>
          </a:bodyPr>
          <a:lstStyle/>
          <a:p>
            <a:pPr algn="ctr">
              <a:lnSpc>
                <a:spcPts val="3919"/>
              </a:lnSpc>
            </a:pPr>
            <a:r>
              <a:rPr lang="en-US" sz="2799" dirty="0">
                <a:solidFill>
                  <a:srgbClr val="F2F1FF"/>
                </a:solidFill>
                <a:latin typeface="Poppins"/>
                <a:ea typeface="Poppins"/>
                <a:cs typeface="Poppins"/>
                <a:sym typeface="Poppins"/>
              </a:rPr>
              <a:t>High abnormal rate indicates strong demand for further treatment. Pending tests suggests scope to improve lab  turnaround time </a:t>
            </a:r>
          </a:p>
        </p:txBody>
      </p:sp>
      <p:pic>
        <p:nvPicPr>
          <p:cNvPr id="19" name="Picture 1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4075" y="2349262"/>
            <a:ext cx="4876800" cy="4554146"/>
          </a:xfrm>
          <a:prstGeom prst="rect">
            <a:avLst/>
          </a:prstGeom>
        </p:spPr>
      </p:pic>
      <p:pic>
        <p:nvPicPr>
          <p:cNvPr id="20" name="Picture 19"/>
          <p:cNvPicPr>
            <a:picLocks noChangeAspect="1"/>
          </p:cNvPicPr>
          <p:nvPr/>
        </p:nvPicPr>
        <p:blipFill>
          <a:blip r:embed="rId5"/>
          <a:stretch>
            <a:fillRect/>
          </a:stretch>
        </p:blipFill>
        <p:spPr>
          <a:xfrm>
            <a:off x="6952604" y="2262459"/>
            <a:ext cx="4744112" cy="4677428"/>
          </a:xfrm>
          <a:prstGeom prst="rect">
            <a:avLst/>
          </a:prstGeom>
        </p:spPr>
      </p:pic>
      <p:pic>
        <p:nvPicPr>
          <p:cNvPr id="21" name="Picture 20"/>
          <p:cNvPicPr>
            <a:picLocks noChangeAspect="1"/>
          </p:cNvPicPr>
          <p:nvPr/>
        </p:nvPicPr>
        <p:blipFill>
          <a:blip r:embed="rId6"/>
          <a:stretch>
            <a:fillRect/>
          </a:stretch>
        </p:blipFill>
        <p:spPr>
          <a:xfrm>
            <a:off x="12558445" y="2262458"/>
            <a:ext cx="4848902" cy="467742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6019800" y="674279"/>
            <a:ext cx="7946166" cy="1320874"/>
          </a:xfrm>
          <a:prstGeom prst="rect">
            <a:avLst/>
          </a:prstGeom>
        </p:spPr>
        <p:txBody>
          <a:bodyPr wrap="square" lIns="0" tIns="0" rIns="0" bIns="0" rtlCol="0" anchor="t">
            <a:spAutoFit/>
          </a:bodyPr>
          <a:lstStyle/>
          <a:p>
            <a:pPr algn="l">
              <a:lnSpc>
                <a:spcPts val="10258"/>
              </a:lnSpc>
            </a:pPr>
            <a:r>
              <a:rPr lang="en-US" sz="7200" dirty="0">
                <a:solidFill>
                  <a:srgbClr val="4D4A7D"/>
                </a:solidFill>
                <a:latin typeface="Fredoka"/>
                <a:ea typeface="Fredoka"/>
                <a:cs typeface="Fredoka"/>
                <a:sym typeface="Fredoka"/>
              </a:rPr>
              <a:t>Excel Dashboard </a:t>
            </a:r>
          </a:p>
        </p:txBody>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286000" y="1913564"/>
            <a:ext cx="14137430" cy="670227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942068" y="689495"/>
            <a:ext cx="9372600" cy="1320874"/>
          </a:xfrm>
          <a:prstGeom prst="rect">
            <a:avLst/>
          </a:prstGeom>
        </p:spPr>
        <p:txBody>
          <a:bodyPr wrap="square" lIns="0" tIns="0" rIns="0" bIns="0" rtlCol="0" anchor="t">
            <a:spAutoFit/>
          </a:bodyPr>
          <a:lstStyle/>
          <a:p>
            <a:pPr algn="l">
              <a:lnSpc>
                <a:spcPts val="10258"/>
              </a:lnSpc>
            </a:pPr>
            <a:r>
              <a:rPr lang="en-US" sz="7200" dirty="0">
                <a:solidFill>
                  <a:srgbClr val="4D4A7D"/>
                </a:solidFill>
                <a:latin typeface="Fredoka"/>
                <a:ea typeface="Fredoka"/>
                <a:cs typeface="Fredoka"/>
                <a:sym typeface="Fredoka"/>
              </a:rPr>
              <a:t>Tableau Dashboard </a:t>
            </a:r>
          </a:p>
        </p:txBody>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2" name="Picture 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35184" y="1790700"/>
            <a:ext cx="15881215" cy="6629400"/>
          </a:xfrm>
          <a:prstGeom prst="rect">
            <a:avLst/>
          </a:prstGeom>
        </p:spPr>
      </p:pic>
    </p:spTree>
    <p:extLst>
      <p:ext uri="{BB962C8B-B14F-4D97-AF65-F5344CB8AC3E}">
        <p14:creationId xmlns:p14="http://schemas.microsoft.com/office/powerpoint/2010/main" val="3744331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572000" y="674279"/>
            <a:ext cx="9393966" cy="1320874"/>
          </a:xfrm>
          <a:prstGeom prst="rect">
            <a:avLst/>
          </a:prstGeom>
        </p:spPr>
        <p:txBody>
          <a:bodyPr wrap="square" lIns="0" tIns="0" rIns="0" bIns="0" rtlCol="0" anchor="t">
            <a:spAutoFit/>
          </a:bodyPr>
          <a:lstStyle/>
          <a:p>
            <a:pPr algn="l">
              <a:lnSpc>
                <a:spcPts val="10258"/>
              </a:lnSpc>
            </a:pPr>
            <a:r>
              <a:rPr lang="en-US" sz="7200" dirty="0">
                <a:solidFill>
                  <a:srgbClr val="4D4A7D"/>
                </a:solidFill>
                <a:latin typeface="Fredoka"/>
                <a:ea typeface="Fredoka"/>
                <a:cs typeface="Fredoka"/>
                <a:sym typeface="Fredoka"/>
              </a:rPr>
              <a:t>Power BI Dashboard </a:t>
            </a:r>
          </a:p>
        </p:txBody>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13" name="Picture 12">
            <a:extLst>
              <a:ext uri="{FF2B5EF4-FFF2-40B4-BE49-F238E27FC236}">
                <a16:creationId xmlns:a16="http://schemas.microsoft.com/office/drawing/2014/main" id="{A30A7A03-EF71-FE42-526C-FF093C42CD8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520681" y="1768007"/>
            <a:ext cx="12883530" cy="6847828"/>
          </a:xfrm>
          <a:prstGeom prst="rect">
            <a:avLst/>
          </a:prstGeom>
        </p:spPr>
      </p:pic>
    </p:spTree>
    <p:extLst>
      <p:ext uri="{BB962C8B-B14F-4D97-AF65-F5344CB8AC3E}">
        <p14:creationId xmlns:p14="http://schemas.microsoft.com/office/powerpoint/2010/main" val="35493669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6019800" y="674279"/>
            <a:ext cx="7946166" cy="1206741"/>
          </a:xfrm>
          <a:prstGeom prst="rect">
            <a:avLst/>
          </a:prstGeom>
        </p:spPr>
        <p:txBody>
          <a:bodyPr wrap="square" lIns="0" tIns="0" rIns="0" bIns="0" rtlCol="0" anchor="t">
            <a:spAutoFit/>
          </a:bodyPr>
          <a:lstStyle/>
          <a:p>
            <a:pPr algn="l">
              <a:lnSpc>
                <a:spcPts val="10258"/>
              </a:lnSpc>
            </a:pPr>
            <a:r>
              <a:rPr lang="en-US" sz="7200" dirty="0">
                <a:solidFill>
                  <a:srgbClr val="4D4A7D"/>
                </a:solidFill>
                <a:latin typeface="Fredoka"/>
                <a:ea typeface="Fredoka"/>
                <a:cs typeface="Fredoka"/>
                <a:sym typeface="Fredoka"/>
              </a:rPr>
              <a:t>SQL Queries</a:t>
            </a:r>
          </a:p>
        </p:txBody>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9" name="Picture 8">
            <a:extLst>
              <a:ext uri="{FF2B5EF4-FFF2-40B4-BE49-F238E27FC236}">
                <a16:creationId xmlns:a16="http://schemas.microsoft.com/office/drawing/2014/main" id="{F4596631-526F-91E9-E6C4-F0E3B5B3103A}"/>
              </a:ext>
            </a:extLst>
          </p:cNvPr>
          <p:cNvPicPr>
            <a:picLocks noChangeAspect="1"/>
          </p:cNvPicPr>
          <p:nvPr/>
        </p:nvPicPr>
        <p:blipFill>
          <a:blip r:embed="rId8"/>
          <a:stretch>
            <a:fillRect/>
          </a:stretch>
        </p:blipFill>
        <p:spPr>
          <a:xfrm>
            <a:off x="681028" y="2476500"/>
            <a:ext cx="6584607" cy="3350208"/>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DF70E98E-ED2B-5F04-EE9A-749F388FA01E}"/>
              </a:ext>
            </a:extLst>
          </p:cNvPr>
          <p:cNvPicPr>
            <a:picLocks noChangeAspect="1"/>
          </p:cNvPicPr>
          <p:nvPr/>
        </p:nvPicPr>
        <p:blipFill>
          <a:blip r:embed="rId9"/>
          <a:stretch>
            <a:fillRect/>
          </a:stretch>
        </p:blipFill>
        <p:spPr>
          <a:xfrm>
            <a:off x="10668000" y="2247900"/>
            <a:ext cx="5105400" cy="3657600"/>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4B0D6558-E985-B7CA-FB9B-AD9C93F1F473}"/>
              </a:ext>
            </a:extLst>
          </p:cNvPr>
          <p:cNvPicPr>
            <a:picLocks noChangeAspect="1"/>
          </p:cNvPicPr>
          <p:nvPr/>
        </p:nvPicPr>
        <p:blipFill>
          <a:blip r:embed="rId10"/>
          <a:stretch>
            <a:fillRect/>
          </a:stretch>
        </p:blipFill>
        <p:spPr>
          <a:xfrm>
            <a:off x="3113268" y="6272380"/>
            <a:ext cx="11201400" cy="2778657"/>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29565813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9" name="Picture 8">
            <a:extLst>
              <a:ext uri="{FF2B5EF4-FFF2-40B4-BE49-F238E27FC236}">
                <a16:creationId xmlns:a16="http://schemas.microsoft.com/office/drawing/2014/main" id="{F5F63126-98DB-4F36-BFAD-5E7022F9BDBD}"/>
              </a:ext>
            </a:extLst>
          </p:cNvPr>
          <p:cNvPicPr>
            <a:picLocks noChangeAspect="1"/>
          </p:cNvPicPr>
          <p:nvPr/>
        </p:nvPicPr>
        <p:blipFill>
          <a:blip r:embed="rId8"/>
          <a:stretch>
            <a:fillRect/>
          </a:stretch>
        </p:blipFill>
        <p:spPr>
          <a:xfrm>
            <a:off x="1143000" y="2019299"/>
            <a:ext cx="7848600" cy="3036419"/>
          </a:xfrm>
          <a:prstGeom prst="rect">
            <a:avLst/>
          </a:prstGeom>
          <a:ln>
            <a:noFill/>
          </a:ln>
          <a:effectLst>
            <a:outerShdw blurRad="190500" algn="tl" rotWithShape="0">
              <a:srgbClr val="000000">
                <a:alpha val="70000"/>
              </a:srgbClr>
            </a:outerShdw>
          </a:effectLst>
        </p:spPr>
      </p:pic>
      <p:pic>
        <p:nvPicPr>
          <p:cNvPr id="10" name="Picture 9">
            <a:extLst>
              <a:ext uri="{FF2B5EF4-FFF2-40B4-BE49-F238E27FC236}">
                <a16:creationId xmlns:a16="http://schemas.microsoft.com/office/drawing/2014/main" id="{2BE84BF2-5590-2DE1-314F-3DF3954039C0}"/>
              </a:ext>
            </a:extLst>
          </p:cNvPr>
          <p:cNvPicPr>
            <a:picLocks noChangeAspect="1"/>
          </p:cNvPicPr>
          <p:nvPr/>
        </p:nvPicPr>
        <p:blipFill>
          <a:blip r:embed="rId9"/>
          <a:stretch>
            <a:fillRect/>
          </a:stretch>
        </p:blipFill>
        <p:spPr>
          <a:xfrm>
            <a:off x="9906000" y="2019298"/>
            <a:ext cx="5791200" cy="3036419"/>
          </a:xfrm>
          <a:prstGeom prst="rect">
            <a:avLst/>
          </a:prstGeom>
          <a:ln>
            <a:noFill/>
          </a:ln>
          <a:effectLst>
            <a:outerShdw blurRad="190500" algn="tl" rotWithShape="0">
              <a:srgbClr val="000000">
                <a:alpha val="70000"/>
              </a:srgbClr>
            </a:outerShdw>
          </a:effectLst>
        </p:spPr>
      </p:pic>
      <p:pic>
        <p:nvPicPr>
          <p:cNvPr id="11" name="Picture 10">
            <a:extLst>
              <a:ext uri="{FF2B5EF4-FFF2-40B4-BE49-F238E27FC236}">
                <a16:creationId xmlns:a16="http://schemas.microsoft.com/office/drawing/2014/main" id="{2673B732-6D60-7AA5-D169-4FED74FD2C9E}"/>
              </a:ext>
            </a:extLst>
          </p:cNvPr>
          <p:cNvPicPr>
            <a:picLocks noChangeAspect="1"/>
          </p:cNvPicPr>
          <p:nvPr/>
        </p:nvPicPr>
        <p:blipFill>
          <a:blip r:embed="rId10"/>
          <a:stretch>
            <a:fillRect/>
          </a:stretch>
        </p:blipFill>
        <p:spPr>
          <a:xfrm>
            <a:off x="5486400" y="5785905"/>
            <a:ext cx="7010400" cy="347239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373920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reeform 3"/>
          <p:cNvSpPr/>
          <p:nvPr/>
        </p:nvSpPr>
        <p:spPr>
          <a:xfrm flipH="1">
            <a:off x="0" y="8638837"/>
            <a:ext cx="3924197" cy="1648163"/>
          </a:xfrm>
          <a:custGeom>
            <a:avLst/>
            <a:gdLst/>
            <a:ahLst/>
            <a:cxnLst/>
            <a:rect l="l" t="t" r="r" b="b"/>
            <a:pathLst>
              <a:path w="3924197" h="1648163">
                <a:moveTo>
                  <a:pt x="3924197" y="0"/>
                </a:moveTo>
                <a:lnTo>
                  <a:pt x="0" y="0"/>
                </a:lnTo>
                <a:lnTo>
                  <a:pt x="0" y="1648163"/>
                </a:lnTo>
                <a:lnTo>
                  <a:pt x="3924197" y="1648163"/>
                </a:lnTo>
                <a:lnTo>
                  <a:pt x="392419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7" name="Freeform 7"/>
          <p:cNvSpPr/>
          <p:nvPr/>
        </p:nvSpPr>
        <p:spPr>
          <a:xfrm flipH="1">
            <a:off x="1028700" y="1028700"/>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Freeform 8"/>
          <p:cNvSpPr/>
          <p:nvPr/>
        </p:nvSpPr>
        <p:spPr>
          <a:xfrm>
            <a:off x="16658396" y="1028700"/>
            <a:ext cx="600904" cy="612032"/>
          </a:xfrm>
          <a:custGeom>
            <a:avLst/>
            <a:gdLst/>
            <a:ahLst/>
            <a:cxnLst/>
            <a:rect l="l" t="t" r="r" b="b"/>
            <a:pathLst>
              <a:path w="600904" h="612032">
                <a:moveTo>
                  <a:pt x="0" y="0"/>
                </a:moveTo>
                <a:lnTo>
                  <a:pt x="600904" y="0"/>
                </a:lnTo>
                <a:lnTo>
                  <a:pt x="600904" y="612032"/>
                </a:lnTo>
                <a:lnTo>
                  <a:pt x="0" y="61203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pic>
        <p:nvPicPr>
          <p:cNvPr id="12" name="Picture 11">
            <a:extLst>
              <a:ext uri="{FF2B5EF4-FFF2-40B4-BE49-F238E27FC236}">
                <a16:creationId xmlns:a16="http://schemas.microsoft.com/office/drawing/2014/main" id="{5F7A31B7-2B2B-E511-E624-B454080D7D9E}"/>
              </a:ext>
            </a:extLst>
          </p:cNvPr>
          <p:cNvPicPr>
            <a:picLocks noChangeAspect="1"/>
          </p:cNvPicPr>
          <p:nvPr/>
        </p:nvPicPr>
        <p:blipFill>
          <a:blip r:embed="rId8"/>
          <a:stretch>
            <a:fillRect/>
          </a:stretch>
        </p:blipFill>
        <p:spPr>
          <a:xfrm>
            <a:off x="4267200" y="513726"/>
            <a:ext cx="10287000" cy="2877174"/>
          </a:xfrm>
          <a:prstGeom prst="rect">
            <a:avLst/>
          </a:prstGeom>
          <a:ln>
            <a:noFill/>
          </a:ln>
          <a:effectLst>
            <a:outerShdw blurRad="190500" algn="tl" rotWithShape="0">
              <a:srgbClr val="000000">
                <a:alpha val="70000"/>
              </a:srgbClr>
            </a:outerShdw>
          </a:effectLst>
        </p:spPr>
      </p:pic>
      <p:pic>
        <p:nvPicPr>
          <p:cNvPr id="13" name="Picture 12">
            <a:extLst>
              <a:ext uri="{FF2B5EF4-FFF2-40B4-BE49-F238E27FC236}">
                <a16:creationId xmlns:a16="http://schemas.microsoft.com/office/drawing/2014/main" id="{234252F0-C076-EC80-5DFC-20EC70AE2D8B}"/>
              </a:ext>
            </a:extLst>
          </p:cNvPr>
          <p:cNvPicPr>
            <a:picLocks noChangeAspect="1"/>
          </p:cNvPicPr>
          <p:nvPr/>
        </p:nvPicPr>
        <p:blipFill>
          <a:blip r:embed="rId9"/>
          <a:stretch>
            <a:fillRect/>
          </a:stretch>
        </p:blipFill>
        <p:spPr>
          <a:xfrm>
            <a:off x="4267200" y="3895621"/>
            <a:ext cx="10287000" cy="2667000"/>
          </a:xfrm>
          <a:prstGeom prst="rect">
            <a:avLst/>
          </a:prstGeom>
          <a:ln>
            <a:noFill/>
          </a:ln>
          <a:effectLst>
            <a:outerShdw blurRad="190500" algn="tl" rotWithShape="0">
              <a:srgbClr val="000000">
                <a:alpha val="70000"/>
              </a:srgbClr>
            </a:outerShdw>
          </a:effectLst>
        </p:spPr>
      </p:pic>
      <p:pic>
        <p:nvPicPr>
          <p:cNvPr id="14" name="Picture 13">
            <a:extLst>
              <a:ext uri="{FF2B5EF4-FFF2-40B4-BE49-F238E27FC236}">
                <a16:creationId xmlns:a16="http://schemas.microsoft.com/office/drawing/2014/main" id="{B9DF1F3E-C413-9D4F-B7EF-4C8E86C87EBD}"/>
              </a:ext>
            </a:extLst>
          </p:cNvPr>
          <p:cNvPicPr>
            <a:picLocks noChangeAspect="1"/>
          </p:cNvPicPr>
          <p:nvPr/>
        </p:nvPicPr>
        <p:blipFill>
          <a:blip r:embed="rId10"/>
          <a:stretch>
            <a:fillRect/>
          </a:stretch>
        </p:blipFill>
        <p:spPr>
          <a:xfrm>
            <a:off x="4267200" y="7067342"/>
            <a:ext cx="10226040" cy="2648158"/>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678776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reeform 9"/>
          <p:cNvSpPr/>
          <p:nvPr/>
        </p:nvSpPr>
        <p:spPr>
          <a:xfrm>
            <a:off x="15499089" y="-495813"/>
            <a:ext cx="3437981" cy="2356580"/>
          </a:xfrm>
          <a:custGeom>
            <a:avLst/>
            <a:gdLst/>
            <a:ahLst/>
            <a:cxnLst/>
            <a:rect l="l" t="t" r="r" b="b"/>
            <a:pathLst>
              <a:path w="3437981" h="2356580">
                <a:moveTo>
                  <a:pt x="0" y="0"/>
                </a:moveTo>
                <a:lnTo>
                  <a:pt x="3437981" y="0"/>
                </a:lnTo>
                <a:lnTo>
                  <a:pt x="3437981" y="2356579"/>
                </a:lnTo>
                <a:lnTo>
                  <a:pt x="0" y="235657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6" name="Group 15"/>
          <p:cNvGrpSpPr/>
          <p:nvPr/>
        </p:nvGrpSpPr>
        <p:grpSpPr>
          <a:xfrm>
            <a:off x="814761" y="1104900"/>
            <a:ext cx="7308602" cy="8540536"/>
            <a:chOff x="1822222" y="1860764"/>
            <a:chExt cx="6565467" cy="6755071"/>
          </a:xfrm>
        </p:grpSpPr>
        <p:grpSp>
          <p:nvGrpSpPr>
            <p:cNvPr id="2" name="Group 2"/>
            <p:cNvGrpSpPr/>
            <p:nvPr/>
          </p:nvGrpSpPr>
          <p:grpSpPr>
            <a:xfrm>
              <a:off x="1822222" y="1860766"/>
              <a:ext cx="6565467" cy="6565467"/>
              <a:chOff x="0" y="0"/>
              <a:chExt cx="812800" cy="812800"/>
            </a:xfrm>
          </p:grpSpPr>
          <p:sp>
            <p:nvSpPr>
              <p:cNvPr id="3" name="Freeform 3"/>
              <p:cNvSpPr/>
              <p:nvPr/>
            </p:nvSpPr>
            <p:spPr>
              <a:xfrm>
                <a:off x="0" y="0"/>
                <a:ext cx="812800" cy="812800"/>
              </a:xfrm>
              <a:custGeom>
                <a:avLst/>
                <a:gdLst/>
                <a:ahLst/>
                <a:cxnLst/>
                <a:rect l="l" t="t" r="r" b="b"/>
                <a:pathLst>
                  <a:path w="812800" h="812800">
                    <a:moveTo>
                      <a:pt x="23584" y="0"/>
                    </a:moveTo>
                    <a:lnTo>
                      <a:pt x="789216" y="0"/>
                    </a:lnTo>
                    <a:cubicBezTo>
                      <a:pt x="795471" y="0"/>
                      <a:pt x="801470" y="2485"/>
                      <a:pt x="805892" y="6908"/>
                    </a:cubicBezTo>
                    <a:cubicBezTo>
                      <a:pt x="810315" y="11330"/>
                      <a:pt x="812800" y="17329"/>
                      <a:pt x="812800" y="23584"/>
                    </a:cubicBezTo>
                    <a:lnTo>
                      <a:pt x="812800" y="789216"/>
                    </a:lnTo>
                    <a:cubicBezTo>
                      <a:pt x="812800" y="795471"/>
                      <a:pt x="810315" y="801470"/>
                      <a:pt x="805892" y="805892"/>
                    </a:cubicBezTo>
                    <a:cubicBezTo>
                      <a:pt x="801470" y="810315"/>
                      <a:pt x="795471" y="812800"/>
                      <a:pt x="789216" y="812800"/>
                    </a:cubicBezTo>
                    <a:lnTo>
                      <a:pt x="23584" y="812800"/>
                    </a:lnTo>
                    <a:cubicBezTo>
                      <a:pt x="17329" y="812800"/>
                      <a:pt x="11330" y="810315"/>
                      <a:pt x="6908" y="805892"/>
                    </a:cubicBezTo>
                    <a:cubicBezTo>
                      <a:pt x="2485" y="801470"/>
                      <a:pt x="0" y="795471"/>
                      <a:pt x="0" y="789216"/>
                    </a:cubicBezTo>
                    <a:lnTo>
                      <a:pt x="0" y="23584"/>
                    </a:lnTo>
                    <a:cubicBezTo>
                      <a:pt x="0" y="17329"/>
                      <a:pt x="2485" y="11330"/>
                      <a:pt x="6908" y="6908"/>
                    </a:cubicBezTo>
                    <a:cubicBezTo>
                      <a:pt x="11330" y="2485"/>
                      <a:pt x="17329" y="0"/>
                      <a:pt x="23584" y="0"/>
                    </a:cubicBezTo>
                    <a:close/>
                  </a:path>
                </a:pathLst>
              </a:custGeom>
              <a:solidFill>
                <a:srgbClr val="FFFFFF"/>
              </a:solidFill>
              <a:ln w="47625" cap="sq">
                <a:solidFill>
                  <a:srgbClr val="756FBF"/>
                </a:solidFill>
                <a:prstDash val="solid"/>
                <a:miter/>
              </a:ln>
            </p:spPr>
          </p:sp>
        </p:grpSp>
        <p:sp>
          <p:nvSpPr>
            <p:cNvPr id="10" name="TextBox 10"/>
            <p:cNvSpPr txBox="1"/>
            <p:nvPr/>
          </p:nvSpPr>
          <p:spPr>
            <a:xfrm rot="-5400000">
              <a:off x="-922086" y="4622907"/>
              <a:ext cx="6755071" cy="1230786"/>
            </a:xfrm>
            <a:prstGeom prst="rect">
              <a:avLst/>
            </a:prstGeom>
          </p:spPr>
          <p:txBody>
            <a:bodyPr wrap="square" lIns="0" tIns="0" rIns="0" bIns="0" rtlCol="0" anchor="t">
              <a:spAutoFit/>
            </a:bodyPr>
            <a:lstStyle/>
            <a:p>
              <a:pPr algn="ctr">
                <a:lnSpc>
                  <a:spcPts val="10258"/>
                </a:lnSpc>
              </a:pPr>
              <a:r>
                <a:rPr lang="en-US" sz="7200" dirty="0">
                  <a:solidFill>
                    <a:srgbClr val="4D4A7D"/>
                  </a:solidFill>
                  <a:latin typeface="Fredoka"/>
                  <a:ea typeface="Fredoka"/>
                  <a:cs typeface="Fredoka"/>
                  <a:sym typeface="Fredoka"/>
                </a:rPr>
                <a:t>Suggestions </a:t>
              </a:r>
            </a:p>
          </p:txBody>
        </p:sp>
      </p:grpSp>
      <p:pic>
        <p:nvPicPr>
          <p:cNvPr id="2050" name="Picture 2" descr="Healthcare recommendations Vectors - Download Free High-Quality Vectors  from Freepik | Freepi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5745" y="2857501"/>
            <a:ext cx="5392862" cy="4495799"/>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p:cNvGrpSpPr/>
          <p:nvPr/>
        </p:nvGrpSpPr>
        <p:grpSpPr>
          <a:xfrm>
            <a:off x="6705600" y="1365642"/>
            <a:ext cx="10229075" cy="7273053"/>
            <a:chOff x="7758023" y="2322333"/>
            <a:chExt cx="9069802" cy="5497674"/>
          </a:xfrm>
        </p:grpSpPr>
        <p:grpSp>
          <p:nvGrpSpPr>
            <p:cNvPr id="6" name="Group 6"/>
            <p:cNvGrpSpPr/>
            <p:nvPr/>
          </p:nvGrpSpPr>
          <p:grpSpPr>
            <a:xfrm>
              <a:off x="7758023" y="2322333"/>
              <a:ext cx="9069802" cy="5497674"/>
              <a:chOff x="0" y="-38100"/>
              <a:chExt cx="2388755" cy="1447947"/>
            </a:xfrm>
          </p:grpSpPr>
          <p:sp>
            <p:nvSpPr>
              <p:cNvPr id="8" name="TextBox 8"/>
              <p:cNvSpPr txBox="1"/>
              <p:nvPr/>
            </p:nvSpPr>
            <p:spPr>
              <a:xfrm>
                <a:off x="0" y="-38100"/>
                <a:ext cx="2337434" cy="1447947"/>
              </a:xfrm>
              <a:prstGeom prst="rect">
                <a:avLst/>
              </a:prstGeom>
            </p:spPr>
            <p:txBody>
              <a:bodyPr lIns="50800" tIns="50800" rIns="50800" bIns="50800" rtlCol="0" anchor="ctr"/>
              <a:lstStyle/>
              <a:p>
                <a:pPr algn="ctr">
                  <a:lnSpc>
                    <a:spcPts val="2659"/>
                  </a:lnSpc>
                  <a:spcBef>
                    <a:spcPct val="0"/>
                  </a:spcBef>
                </a:pPr>
                <a:endParaRPr/>
              </a:p>
            </p:txBody>
          </p:sp>
          <p:sp>
            <p:nvSpPr>
              <p:cNvPr id="7" name="Freeform 7"/>
              <p:cNvSpPr/>
              <p:nvPr/>
            </p:nvSpPr>
            <p:spPr>
              <a:xfrm>
                <a:off x="51321" y="-19050"/>
                <a:ext cx="2337434" cy="1409847"/>
              </a:xfrm>
              <a:custGeom>
                <a:avLst/>
                <a:gdLst/>
                <a:ahLst/>
                <a:cxnLst/>
                <a:rect l="l" t="t" r="r" b="b"/>
                <a:pathLst>
                  <a:path w="2337434" h="1409847">
                    <a:moveTo>
                      <a:pt x="17447" y="0"/>
                    </a:moveTo>
                    <a:lnTo>
                      <a:pt x="2319987" y="0"/>
                    </a:lnTo>
                    <a:cubicBezTo>
                      <a:pt x="2329623" y="0"/>
                      <a:pt x="2337434" y="7811"/>
                      <a:pt x="2337434" y="17447"/>
                    </a:cubicBezTo>
                    <a:lnTo>
                      <a:pt x="2337434" y="1392400"/>
                    </a:lnTo>
                    <a:cubicBezTo>
                      <a:pt x="2337434" y="1402036"/>
                      <a:pt x="2329623" y="1409847"/>
                      <a:pt x="2319987" y="1409847"/>
                    </a:cubicBezTo>
                    <a:lnTo>
                      <a:pt x="17447" y="1409847"/>
                    </a:lnTo>
                    <a:cubicBezTo>
                      <a:pt x="7811" y="1409847"/>
                      <a:pt x="0" y="1402036"/>
                      <a:pt x="0" y="1392400"/>
                    </a:cubicBezTo>
                    <a:lnTo>
                      <a:pt x="0" y="17447"/>
                    </a:lnTo>
                    <a:cubicBezTo>
                      <a:pt x="0" y="7811"/>
                      <a:pt x="7811" y="0"/>
                      <a:pt x="17447" y="0"/>
                    </a:cubicBezTo>
                    <a:close/>
                  </a:path>
                </a:pathLst>
              </a:custGeom>
              <a:solidFill>
                <a:srgbClr val="4D4A7D"/>
              </a:solidFill>
            </p:spPr>
          </p:sp>
        </p:grpSp>
        <p:sp>
          <p:nvSpPr>
            <p:cNvPr id="12" name="TextBox 12"/>
            <p:cNvSpPr txBox="1"/>
            <p:nvPr/>
          </p:nvSpPr>
          <p:spPr>
            <a:xfrm>
              <a:off x="7966395" y="3075831"/>
              <a:ext cx="8458200" cy="4158568"/>
            </a:xfrm>
            <a:prstGeom prst="rect">
              <a:avLst/>
            </a:prstGeom>
          </p:spPr>
          <p:txBody>
            <a:bodyPr wrap="square" lIns="0" tIns="0" rIns="0" bIns="0" rtlCol="0" anchor="t">
              <a:spAutoFit/>
            </a:bodyPr>
            <a:lstStyle/>
            <a:p>
              <a:pPr marL="604519" lvl="1" indent="-302260" algn="l">
                <a:lnSpc>
                  <a:spcPts val="3919"/>
                </a:lnSpc>
                <a:buFont typeface="Arial"/>
                <a:buChar char="•"/>
              </a:pPr>
              <a:r>
                <a:rPr lang="en-US" sz="2799" dirty="0">
                  <a:solidFill>
                    <a:srgbClr val="F2F1FF"/>
                  </a:solidFill>
                  <a:latin typeface="Poppins"/>
                  <a:ea typeface="Poppins"/>
                  <a:cs typeface="Poppins"/>
                  <a:sym typeface="Poppins"/>
                </a:rPr>
                <a:t>Improve follow-up rate through automated reminders to increase patient retention and recurring revenue.</a:t>
              </a:r>
            </a:p>
            <a:p>
              <a:pPr marL="604519" lvl="1" indent="-302260" algn="l">
                <a:lnSpc>
                  <a:spcPts val="3919"/>
                </a:lnSpc>
                <a:buFont typeface="Arial"/>
                <a:buChar char="•"/>
              </a:pPr>
              <a:r>
                <a:rPr lang="en-US" sz="2799" dirty="0">
                  <a:solidFill>
                    <a:srgbClr val="F2F1FF"/>
                  </a:solidFill>
                  <a:latin typeface="Poppins"/>
                  <a:ea typeface="Poppins"/>
                  <a:cs typeface="Poppins"/>
                  <a:sym typeface="Poppins"/>
                </a:rPr>
                <a:t>Reduce pending lab tests to enhance operational efficiency and patient satisfaction.</a:t>
              </a:r>
            </a:p>
            <a:p>
              <a:pPr marL="604519" lvl="1" indent="-302260" algn="l">
                <a:lnSpc>
                  <a:spcPts val="3919"/>
                </a:lnSpc>
                <a:buFont typeface="Arial"/>
                <a:buChar char="•"/>
              </a:pPr>
              <a:r>
                <a:rPr lang="en-US" sz="2799" dirty="0">
                  <a:solidFill>
                    <a:srgbClr val="F2F1FF"/>
                  </a:solidFill>
                  <a:latin typeface="Poppins"/>
                  <a:ea typeface="Poppins"/>
                  <a:cs typeface="Poppins"/>
                  <a:sym typeface="Poppins"/>
                </a:rPr>
                <a:t>Introduce preventive care programs for lifestyle diseases like hypertension and diabetes.</a:t>
              </a:r>
            </a:p>
            <a:p>
              <a:pPr marL="604519" lvl="1" indent="-302260" algn="l">
                <a:lnSpc>
                  <a:spcPts val="3919"/>
                </a:lnSpc>
                <a:buFont typeface="Arial"/>
                <a:buChar char="•"/>
              </a:pPr>
              <a:r>
                <a:rPr lang="en-US" sz="2799" dirty="0">
                  <a:solidFill>
                    <a:srgbClr val="F2F1FF"/>
                  </a:solidFill>
                  <a:latin typeface="Poppins"/>
                  <a:ea typeface="Poppins"/>
                  <a:cs typeface="Poppins"/>
                  <a:sym typeface="Poppins"/>
                </a:rPr>
                <a:t>Plan additional resources for peak demand to avoid service delays,</a:t>
              </a:r>
            </a:p>
            <a:p>
              <a:pPr marL="604519" lvl="1" indent="-302260" algn="l">
                <a:lnSpc>
                  <a:spcPts val="3919"/>
                </a:lnSpc>
                <a:buFont typeface="Arial"/>
                <a:buChar char="•"/>
              </a:pPr>
              <a:r>
                <a:rPr lang="en-US" sz="2799" dirty="0">
                  <a:solidFill>
                    <a:srgbClr val="F2F1FF"/>
                  </a:solidFill>
                  <a:latin typeface="Poppins"/>
                  <a:ea typeface="Poppins"/>
                  <a:cs typeface="Poppins"/>
                  <a:sym typeface="Poppins"/>
                </a:rPr>
                <a:t>Focus on high-performing cities to maximize revenue and strategic growth.</a:t>
              </a:r>
            </a:p>
          </p:txBody>
        </p:sp>
      </p:grpSp>
      <p:sp>
        <p:nvSpPr>
          <p:cNvPr id="13" name="Freeform 13"/>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5">
              <a:extLst>
                <a:ext uri="{96DAC541-7B7A-43D3-8B79-37D633B846F1}">
                  <asvg:svgBlip xmlns:asvg="http://schemas.microsoft.com/office/drawing/2016/SVG/main" r:embed="rId6"/>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705921" y="2324100"/>
            <a:ext cx="8889128" cy="1334128"/>
          </a:xfrm>
          <a:prstGeom prst="rect">
            <a:avLst/>
          </a:prstGeom>
        </p:spPr>
        <p:txBody>
          <a:bodyPr lIns="0" tIns="0" rIns="0" bIns="0" rtlCol="0" anchor="t">
            <a:spAutoFit/>
          </a:bodyPr>
          <a:lstStyle/>
          <a:p>
            <a:pPr algn="ctr">
              <a:lnSpc>
                <a:spcPts val="10258"/>
              </a:lnSpc>
            </a:pPr>
            <a:r>
              <a:rPr lang="en-US" sz="9678" dirty="0">
                <a:solidFill>
                  <a:srgbClr val="4D4A7D"/>
                </a:solidFill>
                <a:latin typeface="Fredoka"/>
                <a:ea typeface="Fredoka"/>
                <a:cs typeface="Fredoka"/>
                <a:sym typeface="Fredoka"/>
              </a:rPr>
              <a:t>Conclusion </a:t>
            </a:r>
          </a:p>
        </p:txBody>
      </p:sp>
      <p:sp>
        <p:nvSpPr>
          <p:cNvPr id="3" name="TextBox 3"/>
          <p:cNvSpPr txBox="1"/>
          <p:nvPr/>
        </p:nvSpPr>
        <p:spPr>
          <a:xfrm>
            <a:off x="4705921" y="4076700"/>
            <a:ext cx="8889128" cy="4001095"/>
          </a:xfrm>
          <a:prstGeom prst="rect">
            <a:avLst/>
          </a:prstGeom>
        </p:spPr>
        <p:txBody>
          <a:bodyPr lIns="0" tIns="0" rIns="0" bIns="0" rtlCol="0" anchor="t">
            <a:spAutoFit/>
          </a:bodyPr>
          <a:lstStyle/>
          <a:p>
            <a:pPr algn="ctr">
              <a:lnSpc>
                <a:spcPts val="3919"/>
              </a:lnSpc>
            </a:pPr>
            <a:r>
              <a:rPr lang="en-US" sz="2799" dirty="0">
                <a:solidFill>
                  <a:srgbClr val="4D4A7D"/>
                </a:solidFill>
                <a:latin typeface="Poppins"/>
                <a:ea typeface="Poppins"/>
                <a:cs typeface="Poppins"/>
                <a:sym typeface="Poppins"/>
              </a:rPr>
              <a:t>The healthcare analysis project demonstrates strong hospital performance with consistent patient volume and solid revenue growth. The dashboards highlight key trends in diagnoses, workload, and seasonal demand. By improving follow-up rates and operational efficiency, the hospital can enhance patient care, optimize resources, and increase overall profitability.</a:t>
            </a:r>
          </a:p>
        </p:txBody>
      </p:sp>
      <p:sp>
        <p:nvSpPr>
          <p:cNvPr id="4" name="Freeform 4"/>
          <p:cNvSpPr/>
          <p:nvPr/>
        </p:nvSpPr>
        <p:spPr>
          <a:xfrm flipH="1" flipV="1">
            <a:off x="13123595" y="1883"/>
            <a:ext cx="5164405" cy="1661999"/>
          </a:xfrm>
          <a:custGeom>
            <a:avLst/>
            <a:gdLst/>
            <a:ahLst/>
            <a:cxnLst/>
            <a:rect l="l" t="t" r="r" b="b"/>
            <a:pathLst>
              <a:path w="5164405" h="1661999">
                <a:moveTo>
                  <a:pt x="5164405" y="1662000"/>
                </a:moveTo>
                <a:lnTo>
                  <a:pt x="0" y="1662000"/>
                </a:lnTo>
                <a:lnTo>
                  <a:pt x="0" y="0"/>
                </a:lnTo>
                <a:lnTo>
                  <a:pt x="5164405" y="0"/>
                </a:lnTo>
                <a:lnTo>
                  <a:pt x="5164405" y="16620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V="1">
            <a:off x="0" y="1883"/>
            <a:ext cx="5164405" cy="1661999"/>
          </a:xfrm>
          <a:custGeom>
            <a:avLst/>
            <a:gdLst/>
            <a:ahLst/>
            <a:cxnLst/>
            <a:rect l="l" t="t" r="r" b="b"/>
            <a:pathLst>
              <a:path w="5164405" h="1661999">
                <a:moveTo>
                  <a:pt x="0" y="1662000"/>
                </a:moveTo>
                <a:lnTo>
                  <a:pt x="5164405" y="1662000"/>
                </a:lnTo>
                <a:lnTo>
                  <a:pt x="5164405" y="0"/>
                </a:lnTo>
                <a:lnTo>
                  <a:pt x="0" y="0"/>
                </a:lnTo>
                <a:lnTo>
                  <a:pt x="0" y="166200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699436" y="4542316"/>
            <a:ext cx="8889128" cy="1334128"/>
          </a:xfrm>
          <a:prstGeom prst="rect">
            <a:avLst/>
          </a:prstGeom>
        </p:spPr>
        <p:txBody>
          <a:bodyPr lIns="0" tIns="0" rIns="0" bIns="0" rtlCol="0" anchor="t">
            <a:spAutoFit/>
          </a:bodyPr>
          <a:lstStyle/>
          <a:p>
            <a:pPr algn="ctr">
              <a:lnSpc>
                <a:spcPts val="10258"/>
              </a:lnSpc>
            </a:pPr>
            <a:r>
              <a:rPr lang="en-US" sz="9678">
                <a:solidFill>
                  <a:srgbClr val="4D4A7D"/>
                </a:solidFill>
                <a:latin typeface="Fredoka"/>
                <a:ea typeface="Fredoka"/>
                <a:cs typeface="Fredoka"/>
                <a:sym typeface="Fredoka"/>
              </a:rPr>
              <a:t>Thank You </a:t>
            </a:r>
          </a:p>
        </p:txBody>
      </p:sp>
      <p:sp>
        <p:nvSpPr>
          <p:cNvPr id="3" name="Freeform 3"/>
          <p:cNvSpPr/>
          <p:nvPr/>
        </p:nvSpPr>
        <p:spPr>
          <a:xfrm flipH="1">
            <a:off x="-1290627" y="8231777"/>
            <a:ext cx="6386288" cy="2055223"/>
          </a:xfrm>
          <a:custGeom>
            <a:avLst/>
            <a:gdLst/>
            <a:ahLst/>
            <a:cxnLst/>
            <a:rect l="l" t="t" r="r" b="b"/>
            <a:pathLst>
              <a:path w="6386288" h="2055223">
                <a:moveTo>
                  <a:pt x="6386287" y="0"/>
                </a:moveTo>
                <a:lnTo>
                  <a:pt x="0" y="0"/>
                </a:lnTo>
                <a:lnTo>
                  <a:pt x="0" y="2055223"/>
                </a:lnTo>
                <a:lnTo>
                  <a:pt x="6386287" y="2055223"/>
                </a:lnTo>
                <a:lnTo>
                  <a:pt x="6386287"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flipV="1">
            <a:off x="13159321" y="0"/>
            <a:ext cx="6381347" cy="2053633"/>
          </a:xfrm>
          <a:custGeom>
            <a:avLst/>
            <a:gdLst/>
            <a:ahLst/>
            <a:cxnLst/>
            <a:rect l="l" t="t" r="r" b="b"/>
            <a:pathLst>
              <a:path w="6381347" h="2053633">
                <a:moveTo>
                  <a:pt x="0" y="2053633"/>
                </a:moveTo>
                <a:lnTo>
                  <a:pt x="6381347" y="2053633"/>
                </a:lnTo>
                <a:lnTo>
                  <a:pt x="6381347" y="0"/>
                </a:lnTo>
                <a:lnTo>
                  <a:pt x="0" y="0"/>
                </a:lnTo>
                <a:lnTo>
                  <a:pt x="0" y="2053633"/>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flipH="1">
            <a:off x="1028700" y="1026817"/>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6" name="Freeform 6"/>
          <p:cNvSpPr/>
          <p:nvPr/>
        </p:nvSpPr>
        <p:spPr>
          <a:xfrm flipH="1">
            <a:off x="14314668" y="8615835"/>
            <a:ext cx="2944632" cy="642465"/>
          </a:xfrm>
          <a:custGeom>
            <a:avLst/>
            <a:gdLst/>
            <a:ahLst/>
            <a:cxnLst/>
            <a:rect l="l" t="t" r="r" b="b"/>
            <a:pathLst>
              <a:path w="2944632" h="642465">
                <a:moveTo>
                  <a:pt x="2944632" y="0"/>
                </a:moveTo>
                <a:lnTo>
                  <a:pt x="0" y="0"/>
                </a:lnTo>
                <a:lnTo>
                  <a:pt x="0" y="642465"/>
                </a:lnTo>
                <a:lnTo>
                  <a:pt x="2944632" y="642465"/>
                </a:lnTo>
                <a:lnTo>
                  <a:pt x="2944632" y="0"/>
                </a:lnTo>
                <a:close/>
              </a:path>
            </a:pathLst>
          </a:custGeom>
          <a:blipFill>
            <a:blip r:embed="rId4">
              <a:extLst>
                <a:ext uri="{96DAC541-7B7A-43D3-8B79-37D633B846F1}">
                  <asvg:svgBlip xmlns:asvg="http://schemas.microsoft.com/office/drawing/2016/SVG/main" r:embed="rId5"/>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TotalTime>
  <Words>390</Words>
  <Application>Microsoft Office PowerPoint</Application>
  <PresentationFormat>Custom</PresentationFormat>
  <Paragraphs>50</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Fredoka</vt:lpstr>
      <vt:lpstr>Poppins Bold</vt:lpstr>
      <vt:lpstr>Calibri</vt:lpstr>
      <vt:lpstr>Arial</vt:lpstr>
      <vt:lpstr>Poppins Medium</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Lilac Geometric Group Project Presentation</dc:title>
  <dc:creator>Admin</dc:creator>
  <cp:lastModifiedBy>muzeeb shaik</cp:lastModifiedBy>
  <cp:revision>18</cp:revision>
  <dcterms:created xsi:type="dcterms:W3CDTF">2006-08-16T00:00:00Z</dcterms:created>
  <dcterms:modified xsi:type="dcterms:W3CDTF">2026-03-11T03:15:38Z</dcterms:modified>
  <dc:identifier>DAHBK8Q5K34</dc:identifier>
</cp:coreProperties>
</file>